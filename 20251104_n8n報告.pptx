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9" r:id="rId4"/>
    <p:sldId id="258" r:id="rId5"/>
    <p:sldId id="318" r:id="rId6"/>
    <p:sldId id="270" r:id="rId7"/>
    <p:sldId id="315" r:id="rId8"/>
    <p:sldId id="319" r:id="rId9"/>
    <p:sldId id="320" r:id="rId10"/>
    <p:sldId id="308" r:id="rId11"/>
    <p:sldId id="316" r:id="rId12"/>
    <p:sldId id="317" r:id="rId13"/>
    <p:sldId id="312" r:id="rId14"/>
    <p:sldId id="313" r:id="rId15"/>
    <p:sldId id="310" r:id="rId16"/>
    <p:sldId id="311" r:id="rId17"/>
    <p:sldId id="304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66"/>
    <a:srgbClr val="FF9797"/>
    <a:srgbClr val="808080"/>
    <a:srgbClr val="1E1E1E"/>
    <a:srgbClr val="A568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60" autoAdjust="0"/>
    <p:restoredTop sz="94140" autoAdjust="0"/>
  </p:normalViewPr>
  <p:slideViewPr>
    <p:cSldViewPr snapToGrid="0">
      <p:cViewPr varScale="1">
        <p:scale>
          <a:sx n="114" d="100"/>
          <a:sy n="114" d="100"/>
        </p:scale>
        <p:origin x="654" y="96"/>
      </p:cViewPr>
      <p:guideLst>
        <p:guide orient="horz" pos="57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24292-4941-4D5B-98B4-4EBD045B9FE1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DB4FA4-348E-4AAA-9CB2-D45B1579E9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3625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mtClean="0"/>
              <a:t>https://</a:t>
            </a:r>
            <a:r>
              <a:rPr lang="en-US" altLang="zh-TW" smtClean="0"/>
              <a:t>www.cc.ntu.edu.tw/chinese/epaper/home/2025</a:t>
            </a:r>
          </a:p>
          <a:p>
            <a:endParaRPr lang="en-US" altLang="zh-TW" smtClean="0"/>
          </a:p>
          <a:p>
            <a:r>
              <a:rPr lang="en-US" altLang="zh-TW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n8n </a:t>
            </a:r>
            <a:r>
              <a:rPr lang="zh-TW" altLang="en-US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是一個開源自動化工具，能幫助你自動化日常的工作流程。</a:t>
            </a:r>
            <a:r>
              <a:rPr lang="zh-TW" altLang="en-US" smtClean="0"/>
              <a:t/>
            </a:r>
            <a:br>
              <a:rPr lang="zh-TW" altLang="en-US" smtClean="0"/>
            </a:br>
            <a:r>
              <a:rPr lang="zh-TW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舉例來說，假設你每天都需要手動查股市數據，</a:t>
            </a:r>
            <a:r>
              <a:rPr lang="en-US" altLang="zh-TW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n8n </a:t>
            </a:r>
            <a:r>
              <a:rPr lang="zh-TW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可以設定一個流程，讓它自動抓取股市數據，並將結果存入 </a:t>
            </a:r>
            <a:r>
              <a:rPr lang="en-US" altLang="zh-TW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 Sheets</a:t>
            </a:r>
            <a:r>
              <a:rPr lang="zh-TW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。當股價達到某個預設值時，</a:t>
            </a:r>
            <a:r>
              <a:rPr lang="en-US" altLang="zh-TW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n8n </a:t>
            </a:r>
            <a:r>
              <a:rPr lang="zh-TW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還可以自動發送通知，告訴你該進行操作</a:t>
            </a:r>
            <a:r>
              <a:rPr lang="en-US" altLang="zh-TW" smtClean="0"/>
              <a:t>0620_007304.html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DB4FA4-348E-4AAA-9CB2-D45B1579E980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9594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mtClean="0"/>
              <a:t>https://raymondhouch.com/lifehacker/digital-workflow/automation-tools-review/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DB4FA4-348E-4AAA-9CB2-D45B1579E980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9183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TBCSEC_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/>
          <p:cNvGrpSpPr>
            <a:grpSpLocks/>
          </p:cNvGrpSpPr>
          <p:nvPr userDrawn="1"/>
        </p:nvGrpSpPr>
        <p:grpSpPr bwMode="auto">
          <a:xfrm>
            <a:off x="0" y="0"/>
            <a:ext cx="12192000" cy="6853238"/>
            <a:chOff x="0" y="0"/>
            <a:chExt cx="6597" cy="4943"/>
          </a:xfrm>
        </p:grpSpPr>
        <p:sp>
          <p:nvSpPr>
            <p:cNvPr id="11" name="Rectangle 4"/>
            <p:cNvSpPr>
              <a:spLocks noChangeArrowheads="1"/>
            </p:cNvSpPr>
            <p:nvPr userDrawn="1"/>
          </p:nvSpPr>
          <p:spPr bwMode="auto">
            <a:xfrm>
              <a:off x="0" y="0"/>
              <a:ext cx="6597" cy="3089"/>
            </a:xfrm>
            <a:prstGeom prst="rect">
              <a:avLst/>
            </a:prstGeom>
            <a:solidFill>
              <a:srgbClr val="0071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endParaRPr kumimoji="0" lang="zh-TW" altLang="en-US"/>
            </a:p>
          </p:txBody>
        </p:sp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5824" y="0"/>
              <a:ext cx="773" cy="3089"/>
            </a:xfrm>
            <a:prstGeom prst="rect">
              <a:avLst/>
            </a:prstGeom>
            <a:solidFill>
              <a:srgbClr val="197F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endParaRPr kumimoji="0" lang="zh-TW" altLang="en-US"/>
            </a:p>
          </p:txBody>
        </p:sp>
        <p:sp>
          <p:nvSpPr>
            <p:cNvPr id="13" name="Rectangle 6"/>
            <p:cNvSpPr>
              <a:spLocks noChangeArrowheads="1"/>
            </p:cNvSpPr>
            <p:nvPr userDrawn="1"/>
          </p:nvSpPr>
          <p:spPr bwMode="auto">
            <a:xfrm>
              <a:off x="0" y="3089"/>
              <a:ext cx="6597" cy="482"/>
            </a:xfrm>
            <a:prstGeom prst="rect">
              <a:avLst/>
            </a:prstGeom>
            <a:solidFill>
              <a:srgbClr val="338D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endParaRPr kumimoji="0" lang="zh-TW" altLang="en-US"/>
            </a:p>
          </p:txBody>
        </p:sp>
        <p:sp>
          <p:nvSpPr>
            <p:cNvPr id="14" name="Rectangle 7"/>
            <p:cNvSpPr>
              <a:spLocks noChangeArrowheads="1"/>
            </p:cNvSpPr>
            <p:nvPr userDrawn="1"/>
          </p:nvSpPr>
          <p:spPr bwMode="auto">
            <a:xfrm>
              <a:off x="0" y="3571"/>
              <a:ext cx="6597" cy="149"/>
            </a:xfrm>
            <a:prstGeom prst="rect">
              <a:avLst/>
            </a:prstGeom>
            <a:solidFill>
              <a:srgbClr val="80B8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endParaRPr kumimoji="0" lang="zh-TW" altLang="en-US"/>
            </a:p>
          </p:txBody>
        </p:sp>
        <p:sp>
          <p:nvSpPr>
            <p:cNvPr id="15" name="Rectangle 8"/>
            <p:cNvSpPr>
              <a:spLocks noChangeArrowheads="1"/>
            </p:cNvSpPr>
            <p:nvPr userDrawn="1"/>
          </p:nvSpPr>
          <p:spPr bwMode="auto">
            <a:xfrm>
              <a:off x="5824" y="3089"/>
              <a:ext cx="773" cy="482"/>
            </a:xfrm>
            <a:prstGeom prst="rect">
              <a:avLst/>
            </a:prstGeom>
            <a:solidFill>
              <a:srgbClr val="6AA8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endParaRPr kumimoji="0" lang="zh-TW" altLang="en-US"/>
            </a:p>
          </p:txBody>
        </p:sp>
        <p:sp>
          <p:nvSpPr>
            <p:cNvPr id="16" name="Rectangle 9"/>
            <p:cNvSpPr>
              <a:spLocks noChangeArrowheads="1"/>
            </p:cNvSpPr>
            <p:nvPr userDrawn="1"/>
          </p:nvSpPr>
          <p:spPr bwMode="auto">
            <a:xfrm>
              <a:off x="5824" y="3571"/>
              <a:ext cx="773" cy="149"/>
            </a:xfrm>
            <a:prstGeom prst="rect">
              <a:avLst/>
            </a:prstGeom>
            <a:solidFill>
              <a:srgbClr val="66AA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endParaRPr kumimoji="0" lang="zh-TW" altLang="en-US"/>
            </a:p>
          </p:txBody>
        </p:sp>
        <p:sp>
          <p:nvSpPr>
            <p:cNvPr id="17" name="Rectangle 10"/>
            <p:cNvSpPr>
              <a:spLocks noChangeArrowheads="1"/>
            </p:cNvSpPr>
            <p:nvPr userDrawn="1"/>
          </p:nvSpPr>
          <p:spPr bwMode="auto">
            <a:xfrm>
              <a:off x="5824" y="3720"/>
              <a:ext cx="773" cy="1223"/>
            </a:xfrm>
            <a:prstGeom prst="rect">
              <a:avLst/>
            </a:prstGeom>
            <a:solidFill>
              <a:srgbClr val="CCE3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endParaRPr kumimoji="0" lang="zh-TW" altLang="en-US"/>
            </a:p>
          </p:txBody>
        </p:sp>
      </p:grp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66800" y="1778795"/>
            <a:ext cx="9696609" cy="935830"/>
          </a:xfrm>
        </p:spPr>
        <p:txBody>
          <a:bodyPr anchor="b">
            <a:normAutofit/>
          </a:bodyPr>
          <a:lstStyle>
            <a:lvl1pPr algn="r">
              <a:defRPr sz="4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457859" y="4441344"/>
            <a:ext cx="6305550" cy="625474"/>
          </a:xfrm>
        </p:spPr>
        <p:txBody>
          <a:bodyPr>
            <a:normAutofit/>
          </a:bodyPr>
          <a:lstStyle>
            <a:lvl1pPr marL="0" indent="0" algn="r">
              <a:buNone/>
              <a:defRPr kumimoji="0" lang="zh-TW" altLang="en-US" sz="26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FAE70E-A2A9-4EA5-BAA7-366C18FFF9F6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8" name="圖片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5416" y="5282109"/>
            <a:ext cx="2406015" cy="67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144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 rotWithShape="1">
          <a:blip r:embed="rId2"/>
          <a:srcRect b="15156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9" name="矩形 8"/>
          <p:cNvSpPr/>
          <p:nvPr userDrawn="1"/>
        </p:nvSpPr>
        <p:spPr>
          <a:xfrm>
            <a:off x="0" y="-19050"/>
            <a:ext cx="12192000" cy="687705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97000">
                <a:schemeClr val="bg1">
                  <a:alpha val="80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38200" y="1778795"/>
            <a:ext cx="10515600" cy="2387600"/>
          </a:xfrm>
        </p:spPr>
        <p:txBody>
          <a:bodyPr anchor="b">
            <a:normAutofit/>
          </a:bodyPr>
          <a:lstStyle>
            <a:lvl1pPr algn="ctr">
              <a:defRPr sz="6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38200" y="4874420"/>
            <a:ext cx="10515600" cy="625474"/>
          </a:xfrm>
        </p:spPr>
        <p:txBody>
          <a:bodyPr>
            <a:normAutofit/>
          </a:bodyPr>
          <a:lstStyle>
            <a:lvl1pPr marL="0" indent="0" algn="r">
              <a:buNone/>
              <a:defRPr kumimoji="0" lang="zh-TW" altLang="en-US" sz="3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AE70E-A2A9-4EA5-BAA7-366C18FFF9F6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文字方塊 6"/>
          <p:cNvSpPr txBox="1"/>
          <p:nvPr userDrawn="1"/>
        </p:nvSpPr>
        <p:spPr>
          <a:xfrm>
            <a:off x="10964175" y="0"/>
            <a:ext cx="12278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1200" b="1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機密資訊</a:t>
            </a:r>
          </a:p>
        </p:txBody>
      </p:sp>
    </p:spTree>
    <p:extLst>
      <p:ext uri="{BB962C8B-B14F-4D97-AF65-F5344CB8AC3E}">
        <p14:creationId xmlns:p14="http://schemas.microsoft.com/office/powerpoint/2010/main" val="255075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TBCSEC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5"/>
          <p:cNvGrpSpPr>
            <a:grpSpLocks/>
          </p:cNvGrpSpPr>
          <p:nvPr userDrawn="1"/>
        </p:nvGrpSpPr>
        <p:grpSpPr bwMode="auto">
          <a:xfrm>
            <a:off x="0" y="6581775"/>
            <a:ext cx="12192000" cy="276225"/>
            <a:chOff x="0" y="4459"/>
            <a:chExt cx="6597" cy="174"/>
          </a:xfrm>
        </p:grpSpPr>
        <p:sp>
          <p:nvSpPr>
            <p:cNvPr id="12" name="Rectangle 6"/>
            <p:cNvSpPr>
              <a:spLocks noChangeArrowheads="1"/>
            </p:cNvSpPr>
            <p:nvPr/>
          </p:nvSpPr>
          <p:spPr bwMode="auto">
            <a:xfrm>
              <a:off x="0" y="4459"/>
              <a:ext cx="6597" cy="174"/>
            </a:xfrm>
            <a:prstGeom prst="rect">
              <a:avLst/>
            </a:prstGeom>
            <a:solidFill>
              <a:srgbClr val="4C9C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1" hangingPunct="1"/>
              <a:endParaRPr kumimoji="0" lang="zh-TW" altLang="en-US"/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5824" y="4459"/>
              <a:ext cx="773" cy="174"/>
            </a:xfrm>
            <a:prstGeom prst="rect">
              <a:avLst/>
            </a:prstGeom>
            <a:solidFill>
              <a:srgbClr val="73B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1" hangingPunct="1"/>
              <a:endParaRPr kumimoji="0" lang="zh-TW" altLang="en-US"/>
            </a:p>
          </p:txBody>
        </p:sp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0" y="4459"/>
              <a:ext cx="6597" cy="174"/>
            </a:xfrm>
            <a:prstGeom prst="rect">
              <a:avLst/>
            </a:prstGeom>
            <a:solidFill>
              <a:srgbClr val="80B8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1" hangingPunct="1"/>
              <a:endParaRPr kumimoji="0" lang="zh-TW" altLang="en-US"/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5824" y="4459"/>
              <a:ext cx="773" cy="174"/>
            </a:xfrm>
            <a:prstGeom prst="rect">
              <a:avLst/>
            </a:prstGeom>
            <a:solidFill>
              <a:srgbClr val="99C6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1" hangingPunct="1"/>
              <a:endParaRPr kumimoji="0" lang="zh-TW" altLang="en-US"/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-1" y="1"/>
            <a:ext cx="11364686" cy="1144588"/>
          </a:xfrm>
          <a:effectLst/>
        </p:spPr>
        <p:txBody>
          <a:bodyPr>
            <a:normAutofit/>
          </a:bodyPr>
          <a:lstStyle>
            <a:lvl1pPr>
              <a:defRPr sz="6000" b="1">
                <a:solidFill>
                  <a:srgbClr val="006666"/>
                </a:solidFill>
                <a:effectLst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71500" y="1406525"/>
            <a:ext cx="10793185" cy="48133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/>
                </a:solidFill>
                <a:effectLst/>
              </a:defRPr>
            </a:lvl1pPr>
            <a:lvl2pPr marL="457200" indent="0">
              <a:buFont typeface="Wingdings" panose="05000000000000000000" pitchFamily="2" charset="2"/>
              <a:buNone/>
              <a:defRPr/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1364685" y="6581775"/>
            <a:ext cx="787400" cy="226785"/>
          </a:xfrm>
        </p:spPr>
        <p:txBody>
          <a:bodyPr/>
          <a:lstStyle/>
          <a:p>
            <a:fld id="{15FAE70E-A2A9-4EA5-BAA7-366C18FFF9F6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0" name="圖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72464" y="232410"/>
            <a:ext cx="1604010" cy="44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693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 rotWithShape="1">
          <a:blip r:embed="rId2"/>
          <a:srcRect b="15156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8" name="矩形 7"/>
          <p:cNvSpPr/>
          <p:nvPr userDrawn="1"/>
        </p:nvSpPr>
        <p:spPr>
          <a:xfrm>
            <a:off x="0" y="-19050"/>
            <a:ext cx="12192000" cy="687705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97000">
                <a:schemeClr val="bg1">
                  <a:alpha val="80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-1" y="1"/>
            <a:ext cx="11364686" cy="1144588"/>
          </a:xfrm>
        </p:spPr>
        <p:txBody>
          <a:bodyPr>
            <a:normAutofit/>
          </a:bodyPr>
          <a:lstStyle>
            <a:lvl1pPr>
              <a:defRPr sz="6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71500" y="1406525"/>
            <a:ext cx="10793185" cy="4813300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Font typeface="Wingdings" panose="05000000000000000000" pitchFamily="2" charset="2"/>
              <a:buNone/>
              <a:defRPr/>
            </a:lvl2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AE70E-A2A9-4EA5-BAA7-366C18FFF9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036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簡報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5"/>
          <p:cNvGrpSpPr>
            <a:grpSpLocks/>
          </p:cNvGrpSpPr>
          <p:nvPr userDrawn="1"/>
        </p:nvGrpSpPr>
        <p:grpSpPr bwMode="auto">
          <a:xfrm>
            <a:off x="0" y="6581775"/>
            <a:ext cx="12192000" cy="276225"/>
            <a:chOff x="0" y="4459"/>
            <a:chExt cx="6597" cy="174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0" y="4459"/>
              <a:ext cx="6597" cy="174"/>
            </a:xfrm>
            <a:prstGeom prst="rect">
              <a:avLst/>
            </a:prstGeom>
            <a:solidFill>
              <a:srgbClr val="4C9C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1" hangingPunct="1"/>
              <a:endParaRPr kumimoji="0" lang="zh-TW" altLang="en-US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5824" y="4459"/>
              <a:ext cx="773" cy="174"/>
            </a:xfrm>
            <a:prstGeom prst="rect">
              <a:avLst/>
            </a:prstGeom>
            <a:solidFill>
              <a:srgbClr val="73B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1" hangingPunct="1"/>
              <a:endParaRPr kumimoji="0" lang="zh-TW" altLang="en-US"/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0" y="4459"/>
              <a:ext cx="6597" cy="174"/>
            </a:xfrm>
            <a:prstGeom prst="rect">
              <a:avLst/>
            </a:prstGeom>
            <a:solidFill>
              <a:srgbClr val="80B8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1" hangingPunct="1"/>
              <a:endParaRPr kumimoji="0" lang="zh-TW" altLang="en-US"/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5824" y="4459"/>
              <a:ext cx="773" cy="174"/>
            </a:xfrm>
            <a:prstGeom prst="rect">
              <a:avLst/>
            </a:prstGeom>
            <a:solidFill>
              <a:srgbClr val="99C6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1" hangingPunct="1"/>
              <a:endParaRPr kumimoji="0" lang="zh-TW" altLang="en-US"/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14399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5459" y="1025495"/>
            <a:ext cx="11528276" cy="530684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/>
            </a:lvl1pPr>
            <a:lvl2pPr marL="685800" indent="-228600">
              <a:lnSpc>
                <a:spcPct val="150000"/>
              </a:lnSpc>
              <a:buFont typeface="Wingdings" panose="05000000000000000000" pitchFamily="2" charset="2"/>
              <a:buChar char="Ø"/>
              <a:defRPr sz="1800"/>
            </a:lvl2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1364685" y="6581775"/>
            <a:ext cx="787400" cy="226785"/>
          </a:xfrm>
        </p:spPr>
        <p:txBody>
          <a:bodyPr/>
          <a:lstStyle/>
          <a:p>
            <a:fld id="{15FAE70E-A2A9-4EA5-BAA7-366C18FFF9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087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/>
        </p:nvSpPr>
        <p:spPr>
          <a:xfrm>
            <a:off x="0" y="-19050"/>
            <a:ext cx="12192000" cy="6877050"/>
          </a:xfrm>
          <a:prstGeom prst="rect">
            <a:avLst/>
          </a:prstGeom>
          <a:gradFill>
            <a:gsLst>
              <a:gs pos="0">
                <a:srgbClr val="006666"/>
              </a:gs>
              <a:gs pos="97000">
                <a:schemeClr val="bg1">
                  <a:alpha val="80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905124" y="2766220"/>
            <a:ext cx="8448675" cy="805656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FAE70E-A2A9-4EA5-BAA7-366C18FFF9F6}" type="slidenum">
              <a:rPr lang="zh-TW" altLang="en-US" smtClean="0"/>
              <a:pPr/>
              <a:t>‹#›</a:t>
            </a:fld>
            <a:endParaRPr lang="zh-TW" altLang="en-US"/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2905124" y="3571876"/>
            <a:ext cx="9286876" cy="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 userDrawn="1"/>
        </p:nvCxnSpPr>
        <p:spPr>
          <a:xfrm>
            <a:off x="3800475" y="3694928"/>
            <a:ext cx="8391525" cy="0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圖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72464" y="232410"/>
            <a:ext cx="1604010" cy="44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842010"/>
      </p:ext>
    </p:extLst>
  </p:cSld>
  <p:clrMapOvr>
    <a:masterClrMapping/>
  </p:clrMapOvr>
  <p:transition spd="slow">
    <p:strips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AE70E-A2A9-4EA5-BAA7-366C18FFF9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855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1364685" y="6540500"/>
            <a:ext cx="787400" cy="2680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15FAE70E-A2A9-4EA5-BAA7-366C18FFF9F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0260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49" r:id="rId2"/>
    <p:sldLayoutId id="2147483660" r:id="rId3"/>
    <p:sldLayoutId id="2147483656" r:id="rId4"/>
    <p:sldLayoutId id="2147483657" r:id="rId5"/>
    <p:sldLayoutId id="2147483658" r:id="rId6"/>
    <p:sldLayoutId id="2147483655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514350" indent="-514350" algn="l" defTabSz="914400" rtl="0" eaLnBrk="1" latinLnBrk="0" hangingPunct="1">
        <a:lnSpc>
          <a:spcPct val="90000"/>
        </a:lnSpc>
        <a:spcBef>
          <a:spcPts val="1000"/>
        </a:spcBef>
        <a:buFont typeface="+mj-lt"/>
        <a:buAutoNum type="arabicPeriod"/>
        <a:defRPr sz="2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hyperlink" Target="https://github.com/n8n-io/n8n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1.jpeg"/><Relationship Id="rId17" Type="http://schemas.openxmlformats.org/officeDocument/2006/relationships/hyperlink" Target="https://docs.n8n.io/external-secrets/" TargetMode="External"/><Relationship Id="rId2" Type="http://schemas.openxmlformats.org/officeDocument/2006/relationships/notesSlide" Target="../notesSlides/notesSlide1.xml"/><Relationship Id="rId16" Type="http://schemas.openxmlformats.org/officeDocument/2006/relationships/hyperlink" Target="https://n8n.io/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microsoft.com/office/2007/relationships/hdphoto" Target="../media/hdphoto1.wdp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microsoft.com/office/2007/relationships/hdphoto" Target="../media/hdphoto2.wdp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hyperlink" Target="https://www.docker.com/" TargetMode="External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y.f5.com/manage/s/article/K17283308#pool_member_stats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zh-tw/powershell/module/microsoft.powershell.core/about/about_execution_policies?view=powershell-7.5#change-the-execution-policy" TargetMode="External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66800" y="1377863"/>
            <a:ext cx="9696609" cy="1336762"/>
          </a:xfrm>
        </p:spPr>
        <p:txBody>
          <a:bodyPr>
            <a:normAutofit/>
          </a:bodyPr>
          <a:lstStyle/>
          <a:p>
            <a:pPr>
              <a:lnSpc>
                <a:spcPts val="2500"/>
              </a:lnSpc>
              <a:spcBef>
                <a:spcPts val="1200"/>
              </a:spcBef>
              <a:spcAft>
                <a:spcPts val="4200"/>
              </a:spcAft>
            </a:pPr>
            <a:r>
              <a:rPr lang="en-US" altLang="zh-TW" b="1"/>
              <a:t>n8n × MCP </a:t>
            </a:r>
            <a:r>
              <a:rPr lang="zh-TW" altLang="en-US" b="1"/>
              <a:t>工作流程實戰</a:t>
            </a:r>
            <a:r>
              <a:rPr lang="en-US" altLang="zh-TW" b="1"/>
              <a:t/>
            </a:r>
            <a:br>
              <a:rPr lang="en-US" altLang="zh-TW" b="1"/>
            </a:br>
            <a:r>
              <a:rPr lang="en-US" altLang="zh-TW" b="1"/>
              <a:t/>
            </a:r>
            <a:br>
              <a:rPr lang="en-US" altLang="zh-TW" b="1"/>
            </a:br>
            <a:r>
              <a:rPr lang="zh-TW" altLang="en-US" sz="3200"/>
              <a:t>開源自動化平台 </a:t>
            </a:r>
            <a:r>
              <a:rPr lang="en-US" altLang="zh-TW" sz="3200"/>
              <a:t>+ </a:t>
            </a:r>
            <a:r>
              <a:rPr lang="zh-TW" altLang="en-US" sz="3200"/>
              <a:t>多場景流程串接</a:t>
            </a:r>
            <a:endParaRPr lang="zh-TW" alt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zh-TW" altLang="en-US">
                <a:solidFill>
                  <a:schemeClr val="bg1"/>
                </a:solidFill>
              </a:rPr>
              <a:t>電子系統科</a:t>
            </a:r>
            <a:endParaRPr lang="zh-TW" altLang="en-US" sz="3200" b="1">
              <a:solidFill>
                <a:schemeClr val="bg1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AE70E-A2A9-4EA5-BAA7-366C18FFF9F6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9321989" y="6217334"/>
            <a:ext cx="14414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林鈞元</a:t>
            </a:r>
            <a:endParaRPr lang="en-US" altLang="zh-TW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r"/>
            <a:r>
              <a:rPr lang="en-US" altLang="zh-TW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2025/11/24</a:t>
            </a: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51374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altLang="zh-TW" sz="4000"/>
              <a:t>Agenda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zh-TW"/>
              <a:t>n8n </a:t>
            </a:r>
            <a:r>
              <a:rPr lang="zh-TW" altLang="en-US" smtClean="0"/>
              <a:t>介紹與比較</a:t>
            </a:r>
            <a:endParaRPr lang="en-US" altLang="zh-TW" smtClean="0"/>
          </a:p>
          <a:p>
            <a:pPr>
              <a:lnSpc>
                <a:spcPct val="200000"/>
              </a:lnSpc>
            </a:pPr>
            <a:r>
              <a:rPr lang="zh-TW" altLang="en-US"/>
              <a:t>如何安裝與設置 </a:t>
            </a:r>
            <a:r>
              <a:rPr lang="en-US" altLang="zh-TW" smtClean="0"/>
              <a:t>n8n</a:t>
            </a:r>
          </a:p>
          <a:p>
            <a:pPr>
              <a:lnSpc>
                <a:spcPct val="200000"/>
              </a:lnSpc>
            </a:pPr>
            <a:r>
              <a:rPr lang="en-US" altLang="zh-TW" smtClean="0"/>
              <a:t>n8n </a:t>
            </a:r>
            <a:r>
              <a:rPr lang="zh-TW" altLang="en-US"/>
              <a:t>工作流程</a:t>
            </a:r>
            <a:r>
              <a:rPr lang="zh-TW" altLang="en-US" smtClean="0"/>
              <a:t>設計</a:t>
            </a:r>
            <a:endParaRPr lang="en-US" altLang="zh-TW" smtClean="0"/>
          </a:p>
          <a:p>
            <a:pPr>
              <a:lnSpc>
                <a:spcPct val="200000"/>
              </a:lnSpc>
            </a:pPr>
            <a:r>
              <a:rPr lang="zh-TW" altLang="en-US"/>
              <a:t>實際應用案例展示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AE70E-A2A9-4EA5-BAA7-366C18FFF9F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344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916010" y="2679134"/>
            <a:ext cx="8448675" cy="805656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en-US" altLang="zh-TW"/>
              <a:t>(1) n8n </a:t>
            </a:r>
            <a:r>
              <a:rPr lang="zh-TW" altLang="en-US"/>
              <a:t>介紹</a:t>
            </a:r>
            <a:endParaRPr lang="en-US" altLang="zh-TW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FAE70E-A2A9-4EA5-BAA7-366C18FFF9F6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1337312"/>
      </p:ext>
    </p:extLst>
  </p:cSld>
  <p:clrMapOvr>
    <a:masterClrMapping/>
  </p:clrMapOvr>
  <p:transition spd="slow">
    <p:strips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smtClean="0">
                <a:solidFill>
                  <a:schemeClr val="accent6">
                    <a:lumMod val="50000"/>
                  </a:schemeClr>
                </a:solidFill>
              </a:rPr>
              <a:t>什麼是</a:t>
            </a:r>
            <a:r>
              <a:rPr lang="en-US" altLang="zh-TW" sz="2800" smtClean="0">
                <a:solidFill>
                  <a:srgbClr val="FF0000"/>
                </a:solidFill>
              </a:rPr>
              <a:t>n8n</a:t>
            </a:r>
            <a:r>
              <a:rPr lang="en-US" altLang="zh-TW" sz="2800">
                <a:solidFill>
                  <a:schemeClr val="accent6">
                    <a:lumMod val="50000"/>
                  </a:schemeClr>
                </a:solidFill>
              </a:rPr>
              <a:t>?</a:t>
            </a:r>
            <a:endParaRPr lang="zh-TW" altLang="en-US" sz="1600" b="1">
              <a:solidFill>
                <a:srgbClr val="006666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AE70E-A2A9-4EA5-BAA7-366C18FFF9F6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101600" y="692825"/>
            <a:ext cx="2322818" cy="45719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1014794" y="1815582"/>
            <a:ext cx="57955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n8n</a:t>
            </a:r>
            <a:r>
              <a:rPr lang="zh-TW" altLang="en-US" sz="20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是一款</a:t>
            </a:r>
            <a:r>
              <a:rPr lang="zh-TW" altLang="en-US" sz="2000" b="1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開源</a:t>
            </a:r>
            <a:r>
              <a:rPr lang="zh-TW" altLang="en-US" sz="20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的視覺化自動化工具</a:t>
            </a:r>
            <a:endParaRPr lang="en-US" altLang="zh-TW" sz="200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0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能視覺化串接上百種服務，打造個人化工作流程</a:t>
            </a:r>
            <a:endParaRPr lang="en-US" altLang="zh-TW" sz="200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14794" y="3428723"/>
            <a:ext cx="4785359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TW" altLang="en-US" sz="2000" smtClean="0">
                <a:solidFill>
                  <a:srgbClr val="34343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可自訂</a:t>
            </a:r>
            <a:r>
              <a:rPr lang="zh-TW" altLang="en-US" sz="2000">
                <a:solidFill>
                  <a:srgbClr val="34343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節點（</a:t>
            </a:r>
            <a:r>
              <a:rPr lang="en-US" altLang="zh-TW" sz="2000" smtClean="0">
                <a:solidFill>
                  <a:srgbClr val="34343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Node</a:t>
            </a:r>
            <a:r>
              <a:rPr lang="zh-TW" altLang="en-US" sz="2000" smtClean="0">
                <a:solidFill>
                  <a:srgbClr val="34343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sz="2000" smtClean="0">
              <a:solidFill>
                <a:srgbClr val="34343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TW" altLang="en-US" sz="2000">
                <a:solidFill>
                  <a:srgbClr val="34343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編寫</a:t>
            </a:r>
            <a:r>
              <a:rPr lang="en-US" altLang="zh-TW" sz="2000">
                <a:solidFill>
                  <a:srgbClr val="34343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JavaScript</a:t>
            </a:r>
            <a:r>
              <a:rPr lang="zh-TW" altLang="en-US" sz="2000">
                <a:solidFill>
                  <a:srgbClr val="34343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邏輯</a:t>
            </a:r>
            <a:endParaRPr lang="en-US" altLang="zh-TW" sz="2000">
              <a:solidFill>
                <a:srgbClr val="34343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TW" altLang="en-US" sz="2000">
                <a:solidFill>
                  <a:srgbClr val="34343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自行開發整合模組</a:t>
            </a:r>
            <a:endParaRPr lang="zh-TW" altLang="en-US" sz="20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TW" altLang="en-US" sz="2000">
                <a:solidFill>
                  <a:srgbClr val="34343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支援</a:t>
            </a:r>
            <a:r>
              <a:rPr lang="zh-TW" altLang="en-US" sz="2000" smtClean="0">
                <a:solidFill>
                  <a:srgbClr val="34343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超過</a:t>
            </a:r>
            <a:r>
              <a:rPr lang="en-US" altLang="zh-TW" sz="2000" smtClean="0">
                <a:solidFill>
                  <a:srgbClr val="34343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1,000</a:t>
            </a:r>
            <a:r>
              <a:rPr lang="zh-TW" altLang="en-US" sz="2000">
                <a:solidFill>
                  <a:srgbClr val="34343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種常見服務與應用</a:t>
            </a:r>
            <a:endParaRPr lang="en-US" altLang="zh-TW" sz="2000" smtClean="0">
              <a:solidFill>
                <a:srgbClr val="34343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66472" y="1285959"/>
            <a:ext cx="28651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b="1" smtClean="0">
                <a:solidFill>
                  <a:srgbClr val="34343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簡介</a:t>
            </a:r>
            <a:endParaRPr lang="en-US" altLang="zh-TW" sz="2800" b="1" smtClean="0">
              <a:solidFill>
                <a:srgbClr val="34343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66471" y="2756027"/>
            <a:ext cx="28651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b="1" smtClean="0">
                <a:solidFill>
                  <a:srgbClr val="34343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特色</a:t>
            </a:r>
            <a:endParaRPr lang="en-US" altLang="zh-TW" sz="2800" b="1" smtClean="0">
              <a:solidFill>
                <a:srgbClr val="34343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30" name="Picture 6" descr="如何在Windows 10 和11 上下載Google 試算表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30" r="21980" b="24262"/>
          <a:stretch/>
        </p:blipFill>
        <p:spPr bwMode="auto">
          <a:xfrm>
            <a:off x="1730557" y="5297032"/>
            <a:ext cx="264361" cy="322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OS 和Android 版Gemini 應用程式：你的Google AI 助理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75" t="36793" r="27620" b="36681"/>
          <a:stretch/>
        </p:blipFill>
        <p:spPr bwMode="auto">
          <a:xfrm>
            <a:off x="3053217" y="5830635"/>
            <a:ext cx="737066" cy="255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Gmail - 維基百科，自由的百科全書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7520" y="5382225"/>
            <a:ext cx="245788" cy="18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Google Docs - Mac、Windows (PC) 版傳統型應用程式- WebCatalo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997" y="5303435"/>
            <a:ext cx="302607" cy="302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File:Google Drive icon (2020).svg - 维基百科，自由的百科全书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507" y="5367547"/>
            <a:ext cx="232639" cy="207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/>
          <p:cNvSpPr/>
          <p:nvPr/>
        </p:nvSpPr>
        <p:spPr>
          <a:xfrm>
            <a:off x="840436" y="5289730"/>
            <a:ext cx="20182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smtClean="0">
                <a:solidFill>
                  <a:srgbClr val="34343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Ex</a:t>
            </a:r>
            <a:r>
              <a:rPr lang="zh-TW" altLang="en-US" b="1" smtClean="0">
                <a:solidFill>
                  <a:srgbClr val="34343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b="1" smtClean="0">
              <a:solidFill>
                <a:srgbClr val="34343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46" name="Picture 22" descr="GitHub - How does Git versioning work? What is Git?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4607" b="87640" l="23675" r="7314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854" t="13066" r="25205" b="8282"/>
          <a:stretch/>
        </p:blipFill>
        <p:spPr bwMode="auto">
          <a:xfrm>
            <a:off x="3246102" y="5297032"/>
            <a:ext cx="322741" cy="319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Gitlab JH / jh-team / GitLab · GitLab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6381" y="5290056"/>
            <a:ext cx="369006" cy="369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n8n 自動化工作流程教學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399" y="1566848"/>
            <a:ext cx="5214711" cy="3424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Line標誌圖片PNG去背圖| 矢量圖案素材| 免费下载| Pngtre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663" y="5774316"/>
            <a:ext cx="367776" cy="36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圖片 1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97" t="3950" r="15034" b="59371"/>
          <a:stretch/>
        </p:blipFill>
        <p:spPr>
          <a:xfrm>
            <a:off x="2772400" y="5801042"/>
            <a:ext cx="304800" cy="314325"/>
          </a:xfrm>
          <a:prstGeom prst="rect">
            <a:avLst/>
          </a:prstGeom>
        </p:spPr>
      </p:pic>
      <p:pic>
        <p:nvPicPr>
          <p:cNvPr id="34" name="圖片 33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38"/>
          <a:stretch/>
        </p:blipFill>
        <p:spPr>
          <a:xfrm>
            <a:off x="1706458" y="5774992"/>
            <a:ext cx="466207" cy="395809"/>
          </a:xfrm>
          <a:prstGeom prst="rect">
            <a:avLst/>
          </a:prstGeom>
        </p:spPr>
      </p:pic>
      <p:pic>
        <p:nvPicPr>
          <p:cNvPr id="21" name="圖片 2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684" y="5767947"/>
            <a:ext cx="331979" cy="347420"/>
          </a:xfrm>
          <a:prstGeom prst="rect">
            <a:avLst/>
          </a:prstGeom>
        </p:spPr>
      </p:pic>
      <p:pic>
        <p:nvPicPr>
          <p:cNvPr id="22" name="圖片 21"/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04"/>
          <a:stretch/>
        </p:blipFill>
        <p:spPr>
          <a:xfrm>
            <a:off x="2456682" y="5775015"/>
            <a:ext cx="339699" cy="366378"/>
          </a:xfrm>
          <a:prstGeom prst="rect">
            <a:avLst/>
          </a:prstGeom>
        </p:spPr>
      </p:pic>
      <p:sp>
        <p:nvSpPr>
          <p:cNvPr id="37" name="矩形 36"/>
          <p:cNvSpPr/>
          <p:nvPr/>
        </p:nvSpPr>
        <p:spPr>
          <a:xfrm>
            <a:off x="3790283" y="5774316"/>
            <a:ext cx="75076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b="1" smtClean="0">
                <a:solidFill>
                  <a:srgbClr val="34343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etc…</a:t>
            </a:r>
          </a:p>
        </p:txBody>
      </p:sp>
      <p:sp>
        <p:nvSpPr>
          <p:cNvPr id="5" name="矩形 4"/>
          <p:cNvSpPr/>
          <p:nvPr/>
        </p:nvSpPr>
        <p:spPr>
          <a:xfrm>
            <a:off x="6601616" y="5049566"/>
            <a:ext cx="6096000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1600" smtClean="0">
                <a:solidFill>
                  <a:srgbClr val="343434"/>
                </a:solidFill>
                <a:latin typeface="Arial" panose="020B0604020202020204" pitchFamily="34" charset="0"/>
              </a:rPr>
              <a:t>n8n</a:t>
            </a:r>
            <a:r>
              <a:rPr lang="zh-TW" altLang="en-US" sz="1600" smtClean="0">
                <a:solidFill>
                  <a:srgbClr val="343434"/>
                </a:solidFill>
                <a:latin typeface="Arial" panose="020B0604020202020204" pitchFamily="34" charset="0"/>
              </a:rPr>
              <a:t>官網：</a:t>
            </a:r>
            <a:r>
              <a:rPr lang="en-US" altLang="zh-TW" sz="1600" smtClean="0">
                <a:solidFill>
                  <a:srgbClr val="343434"/>
                </a:solidFill>
                <a:latin typeface="Arial" panose="020B0604020202020204" pitchFamily="34" charset="0"/>
                <a:hlinkClick r:id="rId16" tooltip="Js"/>
              </a:rPr>
              <a:t>https://n8n.io/</a:t>
            </a:r>
            <a:endParaRPr lang="en-US" altLang="zh-TW" sz="1600" smtClean="0">
              <a:solidFill>
                <a:srgbClr val="343434"/>
              </a:solidFill>
              <a:latin typeface="Arial" panose="020B0604020202020204" pitchFamily="34" charset="0"/>
            </a:endParaRPr>
          </a:p>
          <a:p>
            <a:r>
              <a:rPr lang="en-US" altLang="zh-TW" sz="1600" smtClean="0">
                <a:solidFill>
                  <a:srgbClr val="343434"/>
                </a:solidFill>
                <a:latin typeface="Arial" panose="020B0604020202020204" pitchFamily="34" charset="0"/>
              </a:rPr>
              <a:t>n8n</a:t>
            </a:r>
            <a:r>
              <a:rPr lang="zh-TW" altLang="en-US" sz="1600" smtClean="0">
                <a:solidFill>
                  <a:srgbClr val="343434"/>
                </a:solidFill>
                <a:latin typeface="Arial" panose="020B0604020202020204" pitchFamily="34" charset="0"/>
              </a:rPr>
              <a:t>文件</a:t>
            </a:r>
            <a:r>
              <a:rPr lang="zh-TW" altLang="en-US" sz="1600">
                <a:solidFill>
                  <a:srgbClr val="343434"/>
                </a:solidFill>
                <a:latin typeface="Arial" panose="020B0604020202020204" pitchFamily="34" charset="0"/>
              </a:rPr>
              <a:t>：</a:t>
            </a:r>
            <a:r>
              <a:rPr lang="en-US" altLang="zh-TW" sz="1600">
                <a:solidFill>
                  <a:srgbClr val="343434"/>
                </a:solidFill>
                <a:latin typeface="Arial" panose="020B0604020202020204" pitchFamily="34" charset="0"/>
                <a:hlinkClick r:id="rId17" tooltip="Js"/>
              </a:rPr>
              <a:t>https://docs.n8n.io/external-secrets/</a:t>
            </a:r>
            <a:endParaRPr lang="en-US" altLang="zh-TW" sz="1600">
              <a:solidFill>
                <a:srgbClr val="343434"/>
              </a:solidFill>
              <a:latin typeface="Arial" panose="020B0604020202020204" pitchFamily="34" charset="0"/>
            </a:endParaRPr>
          </a:p>
          <a:p>
            <a:r>
              <a:rPr lang="en-US" altLang="zh-TW" sz="1600">
                <a:solidFill>
                  <a:srgbClr val="343434"/>
                </a:solidFill>
                <a:latin typeface="Arial" panose="020B0604020202020204" pitchFamily="34" charset="0"/>
              </a:rPr>
              <a:t>n8n GitHub</a:t>
            </a:r>
            <a:r>
              <a:rPr lang="zh-TW" altLang="en-US" sz="1600">
                <a:solidFill>
                  <a:srgbClr val="343434"/>
                </a:solidFill>
                <a:latin typeface="Arial" panose="020B0604020202020204" pitchFamily="34" charset="0"/>
              </a:rPr>
              <a:t>：</a:t>
            </a:r>
            <a:r>
              <a:rPr lang="en-US" altLang="zh-TW" sz="1600">
                <a:solidFill>
                  <a:srgbClr val="343434"/>
                </a:solidFill>
                <a:latin typeface="Arial" panose="020B0604020202020204" pitchFamily="34" charset="0"/>
                <a:hlinkClick r:id="rId18" tooltip="Js"/>
              </a:rPr>
              <a:t>https://github.com/n8n-io/n8n</a:t>
            </a:r>
            <a:endParaRPr lang="en-US" altLang="zh-TW" sz="1600" b="0" i="0">
              <a:solidFill>
                <a:srgbClr val="34343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22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"/>
            <a:ext cx="1935480" cy="914399"/>
          </a:xfrm>
        </p:spPr>
        <p:txBody>
          <a:bodyPr>
            <a:normAutofit/>
          </a:bodyPr>
          <a:lstStyle/>
          <a:p>
            <a:r>
              <a:rPr lang="zh-TW" altLang="en-US" sz="2800" smtClean="0">
                <a:solidFill>
                  <a:schemeClr val="accent6">
                    <a:lumMod val="50000"/>
                  </a:schemeClr>
                </a:solidFill>
              </a:rPr>
              <a:t>工具比較</a:t>
            </a:r>
            <a:endParaRPr lang="zh-TW" altLang="en-US" sz="1600" b="1">
              <a:solidFill>
                <a:srgbClr val="006666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AE70E-A2A9-4EA5-BAA7-366C18FFF9F6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101600" y="692825"/>
            <a:ext cx="2322818" cy="45719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291752"/>
              </p:ext>
            </p:extLst>
          </p:nvPr>
        </p:nvGraphicFramePr>
        <p:xfrm>
          <a:off x="384176" y="1124401"/>
          <a:ext cx="11445874" cy="5372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5104">
                  <a:extLst>
                    <a:ext uri="{9D8B030D-6E8A-4147-A177-3AD203B41FA5}">
                      <a16:colId xmlns:a16="http://schemas.microsoft.com/office/drawing/2014/main" val="206013110"/>
                    </a:ext>
                  </a:extLst>
                </a:gridCol>
                <a:gridCol w="3181173">
                  <a:extLst>
                    <a:ext uri="{9D8B030D-6E8A-4147-A177-3AD203B41FA5}">
                      <a16:colId xmlns:a16="http://schemas.microsoft.com/office/drawing/2014/main" val="172239826"/>
                    </a:ext>
                  </a:extLst>
                </a:gridCol>
                <a:gridCol w="3383742">
                  <a:extLst>
                    <a:ext uri="{9D8B030D-6E8A-4147-A177-3AD203B41FA5}">
                      <a16:colId xmlns:a16="http://schemas.microsoft.com/office/drawing/2014/main" val="4218610745"/>
                    </a:ext>
                  </a:extLst>
                </a:gridCol>
                <a:gridCol w="3275855">
                  <a:extLst>
                    <a:ext uri="{9D8B030D-6E8A-4147-A177-3AD203B41FA5}">
                      <a16:colId xmlns:a16="http://schemas.microsoft.com/office/drawing/2014/main" val="1295857869"/>
                    </a:ext>
                  </a:extLst>
                </a:gridCol>
              </a:tblGrid>
              <a:tr h="596449">
                <a:tc>
                  <a:txBody>
                    <a:bodyPr/>
                    <a:lstStyle/>
                    <a:p>
                      <a:endPara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err="1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Zapier</a:t>
                      </a:r>
                      <a:r>
                        <a:rPr lang="en-US" altLang="zh-TW" b="1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Make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n8n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4125246"/>
                  </a:ext>
                </a:extLst>
              </a:tr>
              <a:tr h="810635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800" b="1" i="0" kern="120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介面</a:t>
                      </a:r>
                      <a:endPara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直觀</a:t>
                      </a:r>
                      <a:r>
                        <a:rPr lang="zh-TW" altLang="en-US" sz="16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界面，適合入門初學者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i="0" kern="120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白板式界面，適合複雜工作流</a:t>
                      </a:r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i="0" kern="120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白板式界面，適合複雜工作流</a:t>
                      </a:r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6051987"/>
                  </a:ext>
                </a:extLst>
              </a:tr>
              <a:tr h="731742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800" b="1" i="0" kern="120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應用封裝數</a:t>
                      </a:r>
                      <a:endPara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整合超過 </a:t>
                      </a:r>
                      <a:r>
                        <a:rPr lang="en-US" altLang="zh-TW" sz="16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6,000 </a:t>
                      </a:r>
                      <a:r>
                        <a:rPr lang="zh-TW" altLang="en-US" sz="16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個應用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整合超過 </a:t>
                      </a:r>
                      <a:r>
                        <a:rPr lang="en-US" altLang="zh-TW" sz="16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1,500 </a:t>
                      </a:r>
                      <a:r>
                        <a:rPr lang="zh-TW" altLang="en-US" sz="16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個應用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整合約 </a:t>
                      </a:r>
                      <a:r>
                        <a:rPr lang="en-US" altLang="zh-TW" sz="160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1,000</a:t>
                      </a:r>
                      <a:r>
                        <a:rPr lang="zh-TW" altLang="en-US" sz="160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個</a:t>
                      </a:r>
                      <a:r>
                        <a:rPr lang="zh-TW" altLang="en-US" sz="16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應用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1198324"/>
                  </a:ext>
                </a:extLst>
              </a:tr>
              <a:tr h="810635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800" b="1" i="0" kern="120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自由度程度</a:t>
                      </a:r>
                      <a:endPara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i="0" kern="120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簡單易用，但客製化很貴</a:t>
                      </a:r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i="0" kern="120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介於 </a:t>
                      </a:r>
                      <a:r>
                        <a:rPr lang="en-US" altLang="zh-TW" sz="1600" b="0" i="0" kern="1200" err="1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Zapier</a:t>
                      </a:r>
                      <a:r>
                        <a:rPr lang="zh-TW" altLang="en-US" sz="1600" b="0" i="0" kern="120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、</a:t>
                      </a:r>
                      <a:r>
                        <a:rPr lang="en-US" altLang="zh-TW" sz="1600" b="0" i="0" kern="120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n8n </a:t>
                      </a:r>
                      <a:r>
                        <a:rPr lang="zh-TW" altLang="en-US" sz="1600" b="0" i="0" kern="120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之間</a:t>
                      </a:r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i="0" kern="120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能自行建構疊加客製化程式碼 </a:t>
                      </a:r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4911299"/>
                  </a:ext>
                </a:extLst>
              </a:tr>
              <a:tr h="381163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800" b="1" i="0" kern="120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價格</a:t>
                      </a:r>
                      <a:endPara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i="0" kern="120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免費方案功能有限</a:t>
                      </a:r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i="0" kern="120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免費方案功能有限</a:t>
                      </a:r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i="0" kern="120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開源能自行部署</a:t>
                      </a:r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7685348"/>
                  </a:ext>
                </a:extLst>
              </a:tr>
              <a:tr h="1966194">
                <a:tc>
                  <a:txBody>
                    <a:bodyPr/>
                    <a:lstStyle/>
                    <a:p>
                      <a:pPr algn="l"/>
                      <a:r>
                        <a:rPr lang="zh-TW" altLang="en-US" b="1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心得</a:t>
                      </a:r>
                      <a:endParaRPr lang="zh-TW" altLang="en-US" b="1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altLang="zh-TW" sz="160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endParaRPr lang="en-US" altLang="zh-TW" sz="160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r>
                        <a:rPr lang="zh-TW" altLang="en-US" sz="16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簡單、中等複雜度的工作流但</a:t>
                      </a:r>
                      <a:r>
                        <a:rPr lang="en-US" altLang="zh-TW" sz="16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</a:t>
                      </a:r>
                      <a:r>
                        <a:rPr lang="zh-TW" altLang="en-US" sz="16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TW" sz="16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Chatbots</a:t>
                      </a:r>
                      <a:r>
                        <a:rPr lang="zh-TW" altLang="en-US" sz="16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TW" sz="16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Interfaces</a:t>
                      </a:r>
                      <a:r>
                        <a:rPr lang="zh-TW" altLang="en-US" sz="16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TW" sz="16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Central </a:t>
                      </a:r>
                      <a:r>
                        <a:rPr lang="zh-TW" altLang="en-US" sz="16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都是額外賣的訂閱方案</a:t>
                      </a:r>
                      <a:r>
                        <a:rPr lang="zh-TW" altLang="en-US" sz="1600" smtClean="0"/>
                        <a:t/>
                      </a:r>
                      <a:br>
                        <a:rPr lang="zh-TW" altLang="en-US" sz="1600" smtClean="0"/>
                      </a:br>
                      <a:endParaRPr lang="en-US" altLang="zh-TW" sz="160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endParaRPr lang="en-US" altLang="zh-TW" sz="160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適合不需要頻繁觸發檢查的自動化</a:t>
                      </a:r>
                      <a:endParaRPr lang="en-US" altLang="zh-TW" sz="16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 b="0" i="0" kern="120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雖然只封裝整合 </a:t>
                      </a:r>
                      <a:r>
                        <a:rPr lang="en-US" altLang="zh-TW" sz="1600" b="0" i="0" kern="120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1,000</a:t>
                      </a:r>
                      <a:r>
                        <a:rPr lang="zh-TW" altLang="en-US" sz="1600" b="0" i="0" kern="120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多個應用，但只要該服務有開放 </a:t>
                      </a:r>
                      <a:r>
                        <a:rPr lang="en-US" altLang="zh-TW" sz="1600" b="0" i="0" kern="120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API</a:t>
                      </a:r>
                      <a:r>
                        <a:rPr lang="zh-TW" altLang="en-US" sz="1600" b="0" i="0" kern="120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，都能自己串，</a:t>
                      </a:r>
                      <a:r>
                        <a:rPr lang="zh-TW" altLang="en-US" sz="1600" b="1" i="0" kern="1200" smtClean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所以是天花板無上限</a:t>
                      </a:r>
                      <a:endParaRPr lang="zh-TW" altLang="en-US" sz="1600" b="1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1543691"/>
                  </a:ext>
                </a:extLst>
              </a:tr>
            </a:tbl>
          </a:graphicData>
        </a:graphic>
      </p:graphicFrame>
      <p:pic>
        <p:nvPicPr>
          <p:cNvPr id="17" name="圖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012" y="1221403"/>
            <a:ext cx="398157" cy="398157"/>
          </a:xfrm>
          <a:prstGeom prst="rect">
            <a:avLst/>
          </a:prstGeom>
        </p:spPr>
      </p:pic>
      <p:grpSp>
        <p:nvGrpSpPr>
          <p:cNvPr id="21" name="群組 20"/>
          <p:cNvGrpSpPr/>
          <p:nvPr/>
        </p:nvGrpSpPr>
        <p:grpSpPr>
          <a:xfrm>
            <a:off x="6107113" y="1205083"/>
            <a:ext cx="411480" cy="430798"/>
            <a:chOff x="6096000" y="1124401"/>
            <a:chExt cx="411480" cy="430798"/>
          </a:xfrm>
        </p:grpSpPr>
        <p:sp>
          <p:nvSpPr>
            <p:cNvPr id="19" name="矩形 18"/>
            <p:cNvSpPr/>
            <p:nvPr/>
          </p:nvSpPr>
          <p:spPr>
            <a:xfrm>
              <a:off x="6163628" y="1200150"/>
              <a:ext cx="276225" cy="2245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8" name="圖片 17"/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1191" b="56055" l="11328" r="37826"/>
                      </a14:imgEffect>
                    </a14:imgLayer>
                  </a14:imgProps>
                </a:ext>
              </a:extLst>
            </a:blip>
            <a:srcRect l="10843" t="16985" r="61494" b="39573"/>
            <a:stretch/>
          </p:blipFill>
          <p:spPr>
            <a:xfrm>
              <a:off x="6096000" y="1124401"/>
              <a:ext cx="411480" cy="430798"/>
            </a:xfrm>
            <a:prstGeom prst="rect">
              <a:avLst/>
            </a:prstGeom>
          </p:spPr>
        </p:pic>
      </p:grpSp>
      <p:pic>
        <p:nvPicPr>
          <p:cNvPr id="23" name="圖片 22"/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0215" b="54883" l="62500" r="87305"/>
                    </a14:imgEffect>
                  </a14:imgLayer>
                </a14:imgProps>
              </a:ext>
            </a:extLst>
          </a:blip>
          <a:srcRect l="62294" t="19681" r="12726" b="40957"/>
          <a:stretch/>
        </p:blipFill>
        <p:spPr>
          <a:xfrm>
            <a:off x="9429750" y="1205083"/>
            <a:ext cx="485775" cy="47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830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en-US" altLang="zh-TW"/>
              <a:t>(2</a:t>
            </a:r>
            <a:r>
              <a:rPr lang="en-US" altLang="zh-TW" smtClean="0"/>
              <a:t>)</a:t>
            </a:r>
            <a:r>
              <a:rPr lang="zh-TW" altLang="en-US"/>
              <a:t>如何安裝與設置 </a:t>
            </a:r>
            <a:r>
              <a:rPr lang="en-US" altLang="zh-TW"/>
              <a:t>n8n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FAE70E-A2A9-4EA5-BAA7-366C18FFF9F6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1920168"/>
      </p:ext>
    </p:extLst>
  </p:cSld>
  <p:clrMapOvr>
    <a:masterClrMapping/>
  </p:clrMapOvr>
  <p:transition spd="slow">
    <p:strips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圖片 12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12" r="73754"/>
          <a:stretch/>
        </p:blipFill>
        <p:spPr>
          <a:xfrm>
            <a:off x="4273558" y="1789926"/>
            <a:ext cx="1225995" cy="135539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26" name="圖片 12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64" t="16993" r="-168"/>
          <a:stretch/>
        </p:blipFill>
        <p:spPr>
          <a:xfrm>
            <a:off x="5626796" y="1776120"/>
            <a:ext cx="1715589" cy="14052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08" name="圖片 10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8553" y="1576463"/>
            <a:ext cx="4222535" cy="1537983"/>
          </a:xfrm>
          <a:prstGeom prst="rect">
            <a:avLst/>
          </a:prstGeom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AE70E-A2A9-4EA5-BAA7-366C18FFF9F6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101600" y="692825"/>
            <a:ext cx="2322818" cy="45719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341251" y="996473"/>
            <a:ext cx="3706701" cy="1729311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327710" y="1130310"/>
            <a:ext cx="3397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首先安裝</a:t>
            </a:r>
            <a:r>
              <a:rPr lang="en-US" altLang="zh-TW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Docker Desktop</a:t>
            </a:r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06011" y="2220693"/>
            <a:ext cx="3325059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安裝網址</a:t>
            </a:r>
            <a:r>
              <a:rPr lang="zh-TW" altLang="en-US" sz="14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4"/>
              </a:rPr>
              <a:t>https://www.docker.com</a:t>
            </a:r>
            <a:r>
              <a:rPr lang="en-US" altLang="zh-TW" sz="1400" b="1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4"/>
              </a:rPr>
              <a:t>/</a:t>
            </a:r>
            <a:endParaRPr lang="zh-TW" altLang="en-US" sz="1400" b="1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221682" y="976570"/>
            <a:ext cx="3159305" cy="5191801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4226074" y="1075828"/>
            <a:ext cx="16726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en-US" altLang="zh-TW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新增</a:t>
            </a:r>
            <a:r>
              <a:rPr lang="en-US" altLang="zh-TW" b="1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Volums</a:t>
            </a:r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615665" y="996471"/>
            <a:ext cx="4288313" cy="506876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/>
          <p:cNvSpPr/>
          <p:nvPr/>
        </p:nvSpPr>
        <p:spPr>
          <a:xfrm>
            <a:off x="7670361" y="1075828"/>
            <a:ext cx="16530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4.</a:t>
            </a:r>
            <a:r>
              <a:rPr lang="zh-TW" altLang="en-US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</a:t>
            </a:r>
            <a:r>
              <a:rPr lang="en-US" altLang="zh-TW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Images</a:t>
            </a:r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標題 3"/>
          <p:cNvSpPr>
            <a:spLocks noGrp="1"/>
          </p:cNvSpPr>
          <p:nvPr>
            <p:ph type="title"/>
          </p:nvPr>
        </p:nvSpPr>
        <p:spPr>
          <a:xfrm>
            <a:off x="0" y="1"/>
            <a:ext cx="2562225" cy="914399"/>
          </a:xfrm>
        </p:spPr>
        <p:txBody>
          <a:bodyPr>
            <a:normAutofit/>
          </a:bodyPr>
          <a:lstStyle/>
          <a:p>
            <a:r>
              <a:rPr lang="zh-TW" altLang="en-US" sz="2800" smtClean="0">
                <a:solidFill>
                  <a:schemeClr val="accent6">
                    <a:lumMod val="50000"/>
                  </a:schemeClr>
                </a:solidFill>
              </a:rPr>
              <a:t>安裝步驟</a:t>
            </a:r>
            <a:r>
              <a:rPr lang="en-US" altLang="zh-TW" sz="2800" smtClean="0">
                <a:solidFill>
                  <a:schemeClr val="accent6">
                    <a:lumMod val="50000"/>
                  </a:schemeClr>
                </a:solidFill>
              </a:rPr>
              <a:t>-1</a:t>
            </a:r>
            <a:endParaRPr lang="zh-TW" altLang="en-US" sz="1600" b="1">
              <a:solidFill>
                <a:srgbClr val="006666"/>
              </a:solidFill>
            </a:endParaRPr>
          </a:p>
        </p:txBody>
      </p:sp>
      <p:pic>
        <p:nvPicPr>
          <p:cNvPr id="53" name="圖片 52"/>
          <p:cNvPicPr>
            <a:picLocks noChangeAspect="1"/>
          </p:cNvPicPr>
          <p:nvPr/>
        </p:nvPicPr>
        <p:blipFill rotWithShape="1">
          <a:blip r:embed="rId5"/>
          <a:srcRect l="4806" t="29364" r="9647" b="35955"/>
          <a:stretch/>
        </p:blipFill>
        <p:spPr>
          <a:xfrm>
            <a:off x="918636" y="1551919"/>
            <a:ext cx="2114679" cy="572394"/>
          </a:xfrm>
          <a:prstGeom prst="rect">
            <a:avLst/>
          </a:prstGeom>
        </p:spPr>
      </p:pic>
      <p:sp>
        <p:nvSpPr>
          <p:cNvPr id="55" name="矩形 54"/>
          <p:cNvSpPr/>
          <p:nvPr/>
        </p:nvSpPr>
        <p:spPr>
          <a:xfrm>
            <a:off x="334669" y="2725784"/>
            <a:ext cx="3713283" cy="3446486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矩形 55"/>
          <p:cNvSpPr/>
          <p:nvPr/>
        </p:nvSpPr>
        <p:spPr>
          <a:xfrm>
            <a:off x="317761" y="2836568"/>
            <a:ext cx="17315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安裝</a:t>
            </a:r>
            <a:r>
              <a:rPr lang="en-US" altLang="zh-TW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n8n</a:t>
            </a:r>
            <a:r>
              <a:rPr lang="zh-TW" altLang="en-US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環境</a:t>
            </a:r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41" t="14144" r="52121" b="70243"/>
          <a:stretch/>
        </p:blipFill>
        <p:spPr>
          <a:xfrm>
            <a:off x="2013912" y="3301869"/>
            <a:ext cx="1833271" cy="571311"/>
          </a:xfrm>
          <a:prstGeom prst="rect">
            <a:avLst/>
          </a:prstGeom>
        </p:spPr>
      </p:pic>
      <p:pic>
        <p:nvPicPr>
          <p:cNvPr id="57" name="圖片 56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04" b="31963"/>
          <a:stretch/>
        </p:blipFill>
        <p:spPr>
          <a:xfrm>
            <a:off x="433957" y="3254775"/>
            <a:ext cx="1205638" cy="2360281"/>
          </a:xfrm>
          <a:prstGeom prst="rect">
            <a:avLst/>
          </a:prstGeom>
        </p:spPr>
      </p:pic>
      <p:sp>
        <p:nvSpPr>
          <p:cNvPr id="58" name="矩形 57"/>
          <p:cNvSpPr/>
          <p:nvPr/>
        </p:nvSpPr>
        <p:spPr>
          <a:xfrm>
            <a:off x="485373" y="5004489"/>
            <a:ext cx="1089965" cy="1946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文字方塊 59"/>
          <p:cNvSpPr txBox="1"/>
          <p:nvPr/>
        </p:nvSpPr>
        <p:spPr>
          <a:xfrm>
            <a:off x="271693" y="4680868"/>
            <a:ext cx="1321455" cy="276999"/>
          </a:xfrm>
          <a:prstGeom prst="rect">
            <a:avLst/>
          </a:prstGeom>
          <a:solidFill>
            <a:srgbClr val="808080"/>
          </a:solidFill>
        </p:spPr>
        <p:txBody>
          <a:bodyPr wrap="square" rtlCol="0">
            <a:spAutoFit/>
          </a:bodyPr>
          <a:lstStyle/>
          <a:p>
            <a:r>
              <a:rPr lang="zh-TW" altLang="en-US" sz="1200" b="1" smtClean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點選左側</a:t>
            </a:r>
            <a:r>
              <a:rPr lang="en-US" altLang="zh-TW" sz="1200" b="1" smtClean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Hub</a:t>
            </a:r>
            <a:endParaRPr lang="zh-TW" altLang="en-US" sz="1200" b="1">
              <a:solidFill>
                <a:schemeClr val="bg1">
                  <a:lumMod val="9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1712473" y="5166209"/>
            <a:ext cx="2285680" cy="276999"/>
          </a:xfrm>
          <a:prstGeom prst="rect">
            <a:avLst/>
          </a:prstGeom>
          <a:solidFill>
            <a:srgbClr val="808080"/>
          </a:solidFill>
        </p:spPr>
        <p:txBody>
          <a:bodyPr wrap="square" rtlCol="0">
            <a:spAutoFit/>
          </a:bodyPr>
          <a:lstStyle/>
          <a:p>
            <a:r>
              <a:rPr lang="zh-TW" altLang="en-US" sz="1200" b="1" smtClean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選最新版本，按</a:t>
            </a:r>
            <a:r>
              <a:rPr lang="en-US" altLang="zh-TW" sz="1200" b="1" smtClean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Pull</a:t>
            </a:r>
            <a:endParaRPr lang="zh-TW" altLang="en-US" sz="1200" b="1">
              <a:solidFill>
                <a:schemeClr val="bg1">
                  <a:lumMod val="9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5" name="圖片 24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17681"/>
          <a:stretch/>
        </p:blipFill>
        <p:spPr>
          <a:xfrm>
            <a:off x="1694408" y="5473986"/>
            <a:ext cx="2225987" cy="610779"/>
          </a:xfrm>
          <a:prstGeom prst="rect">
            <a:avLst/>
          </a:prstGeom>
        </p:spPr>
      </p:pic>
      <p:cxnSp>
        <p:nvCxnSpPr>
          <p:cNvPr id="64" name="直線單箭頭接點 63"/>
          <p:cNvCxnSpPr/>
          <p:nvPr/>
        </p:nvCxnSpPr>
        <p:spPr>
          <a:xfrm flipV="1">
            <a:off x="1628323" y="3978440"/>
            <a:ext cx="472338" cy="259760"/>
          </a:xfrm>
          <a:prstGeom prst="straightConnector1">
            <a:avLst/>
          </a:prstGeom>
          <a:ln w="57150">
            <a:solidFill>
              <a:srgbClr val="006666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字方塊 65"/>
          <p:cNvSpPr txBox="1"/>
          <p:nvPr/>
        </p:nvSpPr>
        <p:spPr>
          <a:xfrm>
            <a:off x="2424418" y="3142460"/>
            <a:ext cx="965946" cy="276999"/>
          </a:xfrm>
          <a:prstGeom prst="rect">
            <a:avLst/>
          </a:prstGeom>
          <a:solidFill>
            <a:srgbClr val="808080"/>
          </a:solidFill>
        </p:spPr>
        <p:txBody>
          <a:bodyPr wrap="square" rtlCol="0">
            <a:spAutoFit/>
          </a:bodyPr>
          <a:lstStyle/>
          <a:p>
            <a:r>
              <a:rPr lang="zh-TW" altLang="en-US" sz="1200" b="1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搜尋</a:t>
            </a:r>
            <a:r>
              <a:rPr lang="en-US" altLang="zh-TW" sz="1200" b="1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n8n</a:t>
            </a:r>
            <a:endParaRPr lang="zh-TW" altLang="en-US" sz="1200" b="1">
              <a:solidFill>
                <a:schemeClr val="bg1">
                  <a:lumMod val="9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7" name="圖片 66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43" t="44460" r="52121" b="33847"/>
          <a:stretch/>
        </p:blipFill>
        <p:spPr>
          <a:xfrm>
            <a:off x="2112559" y="3930459"/>
            <a:ext cx="1730369" cy="793750"/>
          </a:xfrm>
          <a:prstGeom prst="rect">
            <a:avLst/>
          </a:prstGeom>
        </p:spPr>
      </p:pic>
      <p:cxnSp>
        <p:nvCxnSpPr>
          <p:cNvPr id="68" name="直線單箭頭接點 67"/>
          <p:cNvCxnSpPr/>
          <p:nvPr/>
        </p:nvCxnSpPr>
        <p:spPr>
          <a:xfrm flipH="1">
            <a:off x="3320141" y="4449027"/>
            <a:ext cx="7259" cy="675363"/>
          </a:xfrm>
          <a:prstGeom prst="straightConnector1">
            <a:avLst/>
          </a:prstGeom>
          <a:ln w="57150">
            <a:solidFill>
              <a:srgbClr val="006666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矩形 71"/>
          <p:cNvSpPr/>
          <p:nvPr/>
        </p:nvSpPr>
        <p:spPr>
          <a:xfrm>
            <a:off x="3224911" y="5505179"/>
            <a:ext cx="369239" cy="2456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文字方塊 75"/>
          <p:cNvSpPr txBox="1"/>
          <p:nvPr/>
        </p:nvSpPr>
        <p:spPr>
          <a:xfrm>
            <a:off x="4273558" y="1615216"/>
            <a:ext cx="1379808" cy="246221"/>
          </a:xfrm>
          <a:prstGeom prst="rect">
            <a:avLst/>
          </a:prstGeom>
          <a:solidFill>
            <a:srgbClr val="808080"/>
          </a:solidFill>
        </p:spPr>
        <p:txBody>
          <a:bodyPr wrap="square" rtlCol="0">
            <a:spAutoFit/>
          </a:bodyPr>
          <a:lstStyle/>
          <a:p>
            <a:r>
              <a:rPr lang="zh-TW" altLang="en-US" sz="1000" b="1" smtClean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點選左側</a:t>
            </a:r>
            <a:r>
              <a:rPr lang="en-US" altLang="zh-TW" sz="1000" b="1" err="1" smtClean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Volums</a:t>
            </a:r>
            <a:endParaRPr lang="zh-TW" altLang="en-US" sz="1000" b="1">
              <a:solidFill>
                <a:schemeClr val="bg1">
                  <a:lumMod val="9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78" name="直線單箭頭接點 77"/>
          <p:cNvCxnSpPr/>
          <p:nvPr/>
        </p:nvCxnSpPr>
        <p:spPr>
          <a:xfrm flipH="1">
            <a:off x="6759696" y="2686935"/>
            <a:ext cx="9646" cy="593421"/>
          </a:xfrm>
          <a:prstGeom prst="straightConnector1">
            <a:avLst/>
          </a:prstGeom>
          <a:ln w="57150">
            <a:solidFill>
              <a:srgbClr val="006666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文字方塊 79"/>
          <p:cNvSpPr txBox="1"/>
          <p:nvPr/>
        </p:nvSpPr>
        <p:spPr>
          <a:xfrm>
            <a:off x="6159694" y="1838116"/>
            <a:ext cx="1123365" cy="246221"/>
          </a:xfrm>
          <a:prstGeom prst="rect">
            <a:avLst/>
          </a:prstGeom>
          <a:solidFill>
            <a:srgbClr val="808080"/>
          </a:solidFill>
        </p:spPr>
        <p:txBody>
          <a:bodyPr wrap="square" rtlCol="0">
            <a:spAutoFit/>
          </a:bodyPr>
          <a:lstStyle/>
          <a:p>
            <a:r>
              <a:rPr lang="zh-TW" altLang="en-US" sz="1000" b="1" smtClean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按下右側新增</a:t>
            </a:r>
            <a:endParaRPr lang="zh-TW" altLang="en-US" sz="1000" b="1">
              <a:solidFill>
                <a:schemeClr val="bg1">
                  <a:lumMod val="9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87" name="圖片 8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696" y="4862398"/>
            <a:ext cx="3051226" cy="1222367"/>
          </a:xfrm>
          <a:prstGeom prst="rect">
            <a:avLst/>
          </a:prstGeom>
        </p:spPr>
      </p:pic>
      <p:sp>
        <p:nvSpPr>
          <p:cNvPr id="88" name="文字方塊 87"/>
          <p:cNvSpPr txBox="1"/>
          <p:nvPr/>
        </p:nvSpPr>
        <p:spPr>
          <a:xfrm>
            <a:off x="5423776" y="4659242"/>
            <a:ext cx="811065" cy="276999"/>
          </a:xfrm>
          <a:prstGeom prst="rect">
            <a:avLst/>
          </a:prstGeom>
          <a:solidFill>
            <a:srgbClr val="808080"/>
          </a:solidFill>
        </p:spPr>
        <p:txBody>
          <a:bodyPr wrap="square" rtlCol="0">
            <a:spAutoFit/>
          </a:bodyPr>
          <a:lstStyle/>
          <a:p>
            <a:r>
              <a:rPr lang="zh-TW" altLang="en-US" sz="1200" b="1" smtClean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新增完成</a:t>
            </a:r>
            <a:endParaRPr lang="zh-TW" altLang="en-US" sz="1200" b="1">
              <a:solidFill>
                <a:schemeClr val="bg1">
                  <a:lumMod val="9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93" name="直線單箭頭接點 92"/>
          <p:cNvCxnSpPr/>
          <p:nvPr/>
        </p:nvCxnSpPr>
        <p:spPr>
          <a:xfrm flipH="1">
            <a:off x="6759757" y="4317590"/>
            <a:ext cx="9525" cy="520111"/>
          </a:xfrm>
          <a:prstGeom prst="straightConnector1">
            <a:avLst/>
          </a:prstGeom>
          <a:ln w="57150">
            <a:solidFill>
              <a:srgbClr val="006666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/>
          <p:nvPr/>
        </p:nvCxnSpPr>
        <p:spPr>
          <a:xfrm>
            <a:off x="5355198" y="2550688"/>
            <a:ext cx="577592" cy="0"/>
          </a:xfrm>
          <a:prstGeom prst="straightConnector1">
            <a:avLst/>
          </a:prstGeom>
          <a:ln w="57150">
            <a:solidFill>
              <a:srgbClr val="006666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8" name="圖片 97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" t="2099" r="1985" b="3096"/>
          <a:stretch/>
        </p:blipFill>
        <p:spPr>
          <a:xfrm>
            <a:off x="4823740" y="3476276"/>
            <a:ext cx="1935956" cy="838200"/>
          </a:xfrm>
          <a:prstGeom prst="rect">
            <a:avLst/>
          </a:prstGeom>
        </p:spPr>
      </p:pic>
      <p:sp>
        <p:nvSpPr>
          <p:cNvPr id="100" name="文字方塊 99"/>
          <p:cNvSpPr txBox="1"/>
          <p:nvPr/>
        </p:nvSpPr>
        <p:spPr>
          <a:xfrm>
            <a:off x="7771426" y="1754500"/>
            <a:ext cx="1379808" cy="276999"/>
          </a:xfrm>
          <a:prstGeom prst="rect">
            <a:avLst/>
          </a:prstGeom>
          <a:solidFill>
            <a:srgbClr val="808080"/>
          </a:solidFill>
        </p:spPr>
        <p:txBody>
          <a:bodyPr wrap="square" rtlCol="0">
            <a:spAutoFit/>
          </a:bodyPr>
          <a:lstStyle/>
          <a:p>
            <a:r>
              <a:rPr lang="zh-TW" altLang="en-US" sz="1200" b="1" smtClean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點選左側</a:t>
            </a:r>
            <a:r>
              <a:rPr lang="en-US" altLang="zh-TW" sz="1200" b="1" smtClean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Images</a:t>
            </a:r>
            <a:endParaRPr lang="zh-TW" altLang="en-US" sz="1200" b="1">
              <a:solidFill>
                <a:schemeClr val="bg1">
                  <a:lumMod val="9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3" name="文字方塊 102"/>
          <p:cNvSpPr txBox="1"/>
          <p:nvPr/>
        </p:nvSpPr>
        <p:spPr>
          <a:xfrm>
            <a:off x="9459830" y="2319856"/>
            <a:ext cx="2176580" cy="461665"/>
          </a:xfrm>
          <a:prstGeom prst="rect">
            <a:avLst/>
          </a:prstGeom>
          <a:solidFill>
            <a:srgbClr val="808080"/>
          </a:solidFill>
        </p:spPr>
        <p:txBody>
          <a:bodyPr wrap="square" rtlCol="0">
            <a:spAutoFit/>
          </a:bodyPr>
          <a:lstStyle/>
          <a:p>
            <a:r>
              <a:rPr lang="zh-TW" altLang="en-US" sz="1200" b="1" smtClean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此為第二步</a:t>
            </a:r>
            <a:r>
              <a:rPr lang="en-US" altLang="zh-TW" sz="1200" b="1" smtClean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pull</a:t>
            </a:r>
            <a:r>
              <a:rPr lang="zh-TW" altLang="en-US" sz="1200" b="1" smtClean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1200" b="1" smtClean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n8n</a:t>
            </a:r>
            <a:r>
              <a:rPr lang="zh-TW" altLang="en-US" sz="1200" b="1" smtClean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1200" b="1" smtClean="0">
              <a:solidFill>
                <a:schemeClr val="bg1">
                  <a:lumMod val="9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200" b="1" smtClean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200" b="1" smtClean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點選運行</a:t>
            </a:r>
            <a:endParaRPr lang="zh-TW" altLang="en-US" sz="1200" b="1">
              <a:solidFill>
                <a:schemeClr val="bg1">
                  <a:lumMod val="9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04" name="直線單箭頭接點 103"/>
          <p:cNvCxnSpPr/>
          <p:nvPr/>
        </p:nvCxnSpPr>
        <p:spPr>
          <a:xfrm>
            <a:off x="8446888" y="2117324"/>
            <a:ext cx="1012942" cy="206017"/>
          </a:xfrm>
          <a:prstGeom prst="straightConnector1">
            <a:avLst/>
          </a:prstGeom>
          <a:ln w="57150">
            <a:solidFill>
              <a:srgbClr val="006666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矩形 108"/>
          <p:cNvSpPr/>
          <p:nvPr/>
        </p:nvSpPr>
        <p:spPr>
          <a:xfrm>
            <a:off x="11089480" y="2806022"/>
            <a:ext cx="196829" cy="17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0" name="圖片 10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5947" y="3264280"/>
            <a:ext cx="2756795" cy="2621143"/>
          </a:xfrm>
          <a:prstGeom prst="rect">
            <a:avLst/>
          </a:prstGeom>
        </p:spPr>
      </p:pic>
      <p:sp>
        <p:nvSpPr>
          <p:cNvPr id="111" name="文字方塊 110"/>
          <p:cNvSpPr txBox="1"/>
          <p:nvPr/>
        </p:nvSpPr>
        <p:spPr>
          <a:xfrm>
            <a:off x="10018548" y="3519348"/>
            <a:ext cx="1148646" cy="276999"/>
          </a:xfrm>
          <a:prstGeom prst="rect">
            <a:avLst/>
          </a:prstGeom>
          <a:solidFill>
            <a:srgbClr val="808080"/>
          </a:solidFill>
        </p:spPr>
        <p:txBody>
          <a:bodyPr wrap="square" rtlCol="0">
            <a:spAutoFit/>
          </a:bodyPr>
          <a:lstStyle/>
          <a:p>
            <a:r>
              <a:rPr lang="zh-TW" altLang="en-US" sz="1200" b="1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填入以下資訊</a:t>
            </a:r>
          </a:p>
        </p:txBody>
      </p:sp>
      <p:sp>
        <p:nvSpPr>
          <p:cNvPr id="112" name="矩形 111"/>
          <p:cNvSpPr/>
          <p:nvPr/>
        </p:nvSpPr>
        <p:spPr>
          <a:xfrm>
            <a:off x="8072438" y="3978440"/>
            <a:ext cx="2520432" cy="13207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矩形 112"/>
          <p:cNvSpPr/>
          <p:nvPr/>
        </p:nvSpPr>
        <p:spPr>
          <a:xfrm>
            <a:off x="8072437" y="4595813"/>
            <a:ext cx="2520433" cy="1415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4" name="矩形 113"/>
          <p:cNvSpPr/>
          <p:nvPr/>
        </p:nvSpPr>
        <p:spPr>
          <a:xfrm>
            <a:off x="8115299" y="4936241"/>
            <a:ext cx="2219326" cy="1648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5" name="矩形 114"/>
          <p:cNvSpPr/>
          <p:nvPr/>
        </p:nvSpPr>
        <p:spPr>
          <a:xfrm>
            <a:off x="10267949" y="5703648"/>
            <a:ext cx="324921" cy="1362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6" name="文字方塊 115"/>
          <p:cNvSpPr txBox="1"/>
          <p:nvPr/>
        </p:nvSpPr>
        <p:spPr>
          <a:xfrm>
            <a:off x="9916246" y="4116660"/>
            <a:ext cx="1953630" cy="58477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800" b="1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name</a:t>
            </a:r>
            <a:r>
              <a:rPr lang="en-US" altLang="zh-TW" sz="800" b="1" smtClean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</a:p>
          <a:p>
            <a:r>
              <a:rPr lang="en-US" altLang="zh-TW" sz="800" b="1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port:</a:t>
            </a:r>
            <a:endParaRPr lang="en-US" altLang="zh-TW" sz="800" b="1" smtClean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800" b="1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host path</a:t>
            </a:r>
            <a:r>
              <a:rPr lang="en-US" altLang="zh-TW" sz="800" b="1" smtClean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</a:p>
          <a:p>
            <a:r>
              <a:rPr lang="en-US" altLang="zh-TW" sz="800" b="1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container path</a:t>
            </a:r>
            <a:r>
              <a:rPr lang="en-US" altLang="zh-TW" sz="800" b="1" smtClean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endParaRPr lang="zh-TW" altLang="en-US" sz="800" b="1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10748341" y="4108320"/>
            <a:ext cx="10759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800" b="1" smtClean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n8n</a:t>
            </a:r>
          </a:p>
          <a:p>
            <a:r>
              <a:rPr lang="en-US" altLang="zh-TW" sz="800" b="1" smtClean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5678</a:t>
            </a:r>
          </a:p>
          <a:p>
            <a:r>
              <a:rPr lang="en-US" altLang="zh-TW" sz="800" b="1" smtClean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n8n_data</a:t>
            </a:r>
          </a:p>
          <a:p>
            <a:r>
              <a:rPr lang="en-US" altLang="zh-TW" sz="800" b="1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/home/node/.</a:t>
            </a:r>
            <a:r>
              <a:rPr lang="en-US" altLang="zh-TW" sz="800" b="1" smtClean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n8n</a:t>
            </a:r>
            <a:endParaRPr lang="zh-TW" altLang="en-US" sz="800" b="1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19" name="直線單箭頭接點 118"/>
          <p:cNvCxnSpPr/>
          <p:nvPr/>
        </p:nvCxnSpPr>
        <p:spPr>
          <a:xfrm flipH="1">
            <a:off x="11175719" y="3018296"/>
            <a:ext cx="17052" cy="475330"/>
          </a:xfrm>
          <a:prstGeom prst="straightConnector1">
            <a:avLst/>
          </a:prstGeom>
          <a:ln w="57150">
            <a:solidFill>
              <a:srgbClr val="006666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文字方塊 126"/>
          <p:cNvSpPr txBox="1"/>
          <p:nvPr/>
        </p:nvSpPr>
        <p:spPr>
          <a:xfrm>
            <a:off x="5852746" y="3382209"/>
            <a:ext cx="1123365" cy="276999"/>
          </a:xfrm>
          <a:prstGeom prst="rect">
            <a:avLst/>
          </a:prstGeom>
          <a:solidFill>
            <a:srgbClr val="808080"/>
          </a:solidFill>
        </p:spPr>
        <p:txBody>
          <a:bodyPr wrap="square" rtlCol="0">
            <a:spAutoFit/>
          </a:bodyPr>
          <a:lstStyle/>
          <a:p>
            <a:r>
              <a:rPr lang="zh-TW" altLang="en-US" sz="1200" b="1" smtClean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自訂名稱</a:t>
            </a:r>
            <a:endParaRPr lang="zh-TW" altLang="en-US" sz="1200" b="1">
              <a:solidFill>
                <a:schemeClr val="bg1">
                  <a:lumMod val="9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6852791" y="2127128"/>
            <a:ext cx="357634" cy="1927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" name="矩形 130"/>
          <p:cNvSpPr/>
          <p:nvPr/>
        </p:nvSpPr>
        <p:spPr>
          <a:xfrm>
            <a:off x="4297804" y="2249090"/>
            <a:ext cx="1057393" cy="1927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7695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AE70E-A2A9-4EA5-BAA7-366C18FFF9F6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101600" y="692825"/>
            <a:ext cx="2322818" cy="45719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341251" y="996473"/>
            <a:ext cx="4979686" cy="479472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314269" y="1068736"/>
            <a:ext cx="3397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5.</a:t>
            </a:r>
            <a:r>
              <a:rPr lang="zh-TW" altLang="en-US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運行畫面</a:t>
            </a:r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標題 3"/>
          <p:cNvSpPr>
            <a:spLocks noGrp="1"/>
          </p:cNvSpPr>
          <p:nvPr>
            <p:ph type="title"/>
          </p:nvPr>
        </p:nvSpPr>
        <p:spPr>
          <a:xfrm>
            <a:off x="0" y="1"/>
            <a:ext cx="2562225" cy="914399"/>
          </a:xfrm>
        </p:spPr>
        <p:txBody>
          <a:bodyPr>
            <a:normAutofit/>
          </a:bodyPr>
          <a:lstStyle/>
          <a:p>
            <a:r>
              <a:rPr lang="zh-TW" altLang="en-US" sz="2800" smtClean="0">
                <a:solidFill>
                  <a:schemeClr val="accent6">
                    <a:lumMod val="50000"/>
                  </a:schemeClr>
                </a:solidFill>
              </a:rPr>
              <a:t>安裝步驟</a:t>
            </a:r>
            <a:r>
              <a:rPr lang="en-US" altLang="zh-TW" sz="2800" smtClean="0">
                <a:solidFill>
                  <a:schemeClr val="accent6">
                    <a:lumMod val="50000"/>
                  </a:schemeClr>
                </a:solidFill>
              </a:rPr>
              <a:t>-2</a:t>
            </a:r>
            <a:endParaRPr lang="zh-TW" altLang="en-US" sz="1600" b="1">
              <a:solidFill>
                <a:srgbClr val="006666"/>
              </a:solidFill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12" y="1693333"/>
            <a:ext cx="4845181" cy="3170474"/>
          </a:xfrm>
          <a:prstGeom prst="rect">
            <a:avLst/>
          </a:prstGeom>
        </p:spPr>
      </p:pic>
      <p:sp>
        <p:nvSpPr>
          <p:cNvPr id="50" name="矩形 49"/>
          <p:cNvSpPr/>
          <p:nvPr/>
        </p:nvSpPr>
        <p:spPr>
          <a:xfrm>
            <a:off x="5651863" y="996473"/>
            <a:ext cx="6348548" cy="479472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矩形 50"/>
          <p:cNvSpPr/>
          <p:nvPr/>
        </p:nvSpPr>
        <p:spPr>
          <a:xfrm>
            <a:off x="1584961" y="4615544"/>
            <a:ext cx="1584960" cy="1183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文字方塊 53"/>
          <p:cNvSpPr txBox="1"/>
          <p:nvPr/>
        </p:nvSpPr>
        <p:spPr>
          <a:xfrm>
            <a:off x="1722616" y="4945880"/>
            <a:ext cx="2207372" cy="338554"/>
          </a:xfrm>
          <a:prstGeom prst="rect">
            <a:avLst/>
          </a:prstGeom>
          <a:solidFill>
            <a:srgbClr val="808080"/>
          </a:solidFill>
        </p:spPr>
        <p:txBody>
          <a:bodyPr wrap="square" rtlCol="0">
            <a:spAutoFit/>
          </a:bodyPr>
          <a:lstStyle/>
          <a:p>
            <a:r>
              <a:rPr lang="zh-TW" altLang="en-US" sz="1600" b="1" smtClean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點擊該</a:t>
            </a:r>
            <a:r>
              <a:rPr lang="zh-TW" altLang="en-US" sz="1600" b="1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網址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9" r="10546"/>
          <a:stretch/>
        </p:blipFill>
        <p:spPr>
          <a:xfrm>
            <a:off x="5716183" y="1499642"/>
            <a:ext cx="2072640" cy="407839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59" name="文字方塊 58"/>
          <p:cNvSpPr txBox="1"/>
          <p:nvPr/>
        </p:nvSpPr>
        <p:spPr>
          <a:xfrm>
            <a:off x="5726795" y="1068736"/>
            <a:ext cx="3397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6.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成功畫面</a:t>
            </a:r>
          </a:p>
        </p:txBody>
      </p:sp>
      <p:sp>
        <p:nvSpPr>
          <p:cNvPr id="63" name="文字方塊 62"/>
          <p:cNvSpPr txBox="1"/>
          <p:nvPr/>
        </p:nvSpPr>
        <p:spPr>
          <a:xfrm>
            <a:off x="5664840" y="2672859"/>
            <a:ext cx="1979563" cy="307777"/>
          </a:xfrm>
          <a:prstGeom prst="rect">
            <a:avLst/>
          </a:prstGeom>
          <a:solidFill>
            <a:srgbClr val="808080"/>
          </a:solidFill>
        </p:spPr>
        <p:txBody>
          <a:bodyPr wrap="square" rtlCol="0">
            <a:spAutoFit/>
          </a:bodyPr>
          <a:lstStyle/>
          <a:p>
            <a:r>
              <a:rPr lang="zh-TW" altLang="en-US" sz="1400" b="1" smtClean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點選後會跳出註冊資訊</a:t>
            </a:r>
            <a:endParaRPr lang="zh-TW" altLang="en-US" sz="1400" b="1">
              <a:solidFill>
                <a:schemeClr val="bg1">
                  <a:lumMod val="9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4"/>
          <a:srcRect t="3490"/>
          <a:stretch/>
        </p:blipFill>
        <p:spPr>
          <a:xfrm>
            <a:off x="8025285" y="1499642"/>
            <a:ext cx="3759981" cy="4078395"/>
          </a:xfrm>
          <a:prstGeom prst="rect">
            <a:avLst/>
          </a:prstGeom>
        </p:spPr>
      </p:pic>
      <p:sp>
        <p:nvSpPr>
          <p:cNvPr id="65" name="文字方塊 64"/>
          <p:cNvSpPr txBox="1"/>
          <p:nvPr/>
        </p:nvSpPr>
        <p:spPr>
          <a:xfrm>
            <a:off x="9009792" y="3319328"/>
            <a:ext cx="2154597" cy="307777"/>
          </a:xfrm>
          <a:prstGeom prst="rect">
            <a:avLst/>
          </a:prstGeom>
          <a:solidFill>
            <a:srgbClr val="808080"/>
          </a:solidFill>
        </p:spPr>
        <p:txBody>
          <a:bodyPr wrap="square" rtlCol="0">
            <a:spAutoFit/>
          </a:bodyPr>
          <a:lstStyle/>
          <a:p>
            <a:r>
              <a:rPr lang="zh-TW" altLang="en-US" sz="1400" b="1" smtClean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註冊完成後即可開始使用</a:t>
            </a:r>
            <a:endParaRPr lang="zh-TW" altLang="en-US" sz="1400" b="1">
              <a:solidFill>
                <a:schemeClr val="bg1">
                  <a:lumMod val="9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9" name="直線單箭頭接點 68"/>
          <p:cNvCxnSpPr/>
          <p:nvPr/>
        </p:nvCxnSpPr>
        <p:spPr>
          <a:xfrm>
            <a:off x="7882444" y="3187819"/>
            <a:ext cx="1012942" cy="206017"/>
          </a:xfrm>
          <a:prstGeom prst="straightConnector1">
            <a:avLst/>
          </a:prstGeom>
          <a:ln w="57150">
            <a:solidFill>
              <a:srgbClr val="006666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8917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en-US" altLang="zh-TW" smtClean="0"/>
              <a:t>(3) </a:t>
            </a:r>
            <a:r>
              <a:rPr lang="en-US" altLang="zh-TW"/>
              <a:t>n8n </a:t>
            </a:r>
            <a:r>
              <a:rPr lang="zh-TW" altLang="en-US"/>
              <a:t>工作流程設計</a:t>
            </a:r>
            <a:endParaRPr lang="en-US" altLang="zh-TW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FAE70E-A2A9-4EA5-BAA7-366C18FFF9F6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1571035"/>
      </p:ext>
    </p:extLst>
  </p:cSld>
  <p:clrMapOvr>
    <a:masterClrMapping/>
  </p:clrMapOvr>
  <p:transition spd="slow">
    <p:strips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31CF89-F96A-5D03-E7F8-6760908E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AE70E-A2A9-4EA5-BAA7-366C18FFF9F6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6" name="標題 3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14399"/>
          </a:xfrm>
        </p:spPr>
        <p:txBody>
          <a:bodyPr>
            <a:normAutofit/>
          </a:bodyPr>
          <a:lstStyle/>
          <a:p>
            <a:r>
              <a:rPr lang="zh-TW" altLang="en-US" sz="2400" smtClean="0">
                <a:solidFill>
                  <a:srgbClr val="006666"/>
                </a:solidFill>
              </a:rPr>
              <a:t>程式</a:t>
            </a:r>
            <a:r>
              <a:rPr lang="zh-TW" altLang="en-US" sz="2400">
                <a:solidFill>
                  <a:srgbClr val="006666"/>
                </a:solidFill>
              </a:rPr>
              <a:t>流程</a:t>
            </a:r>
            <a:endParaRPr lang="zh-TW" altLang="en-US" sz="2400" b="1">
              <a:solidFill>
                <a:srgbClr val="006666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600" y="692825"/>
            <a:ext cx="2322818" cy="45719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4985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757"/>
          <a:stretch/>
        </p:blipFill>
        <p:spPr>
          <a:xfrm>
            <a:off x="0" y="750149"/>
            <a:ext cx="8064137" cy="6115793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31CF89-F96A-5D03-E7F8-6760908E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AE70E-A2A9-4EA5-BAA7-366C18FFF9F6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6" name="標題 3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14399"/>
          </a:xfrm>
        </p:spPr>
        <p:txBody>
          <a:bodyPr>
            <a:normAutofit/>
          </a:bodyPr>
          <a:lstStyle/>
          <a:p>
            <a:r>
              <a:rPr lang="zh-TW" altLang="en-US" sz="2400" b="1">
                <a:solidFill>
                  <a:srgbClr val="006666"/>
                </a:solidFill>
              </a:rPr>
              <a:t>變數設定</a:t>
            </a:r>
          </a:p>
        </p:txBody>
      </p:sp>
      <p:sp>
        <p:nvSpPr>
          <p:cNvPr id="7" name="矩形 6"/>
          <p:cNvSpPr/>
          <p:nvPr/>
        </p:nvSpPr>
        <p:spPr>
          <a:xfrm>
            <a:off x="101600" y="692825"/>
            <a:ext cx="2322818" cy="45719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8413561" y="738298"/>
            <a:ext cx="3738524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打開</a:t>
            </a:r>
            <a:r>
              <a:rPr lang="en-US" altLang="zh-TW" sz="2000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f5_dtc.ps1</a:t>
            </a:r>
            <a:r>
              <a:rPr lang="zh-TW" altLang="en-US" sz="2000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自訂</a:t>
            </a:r>
            <a:r>
              <a:rPr lang="zh-TW" altLang="en-US" sz="2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變數</a:t>
            </a:r>
            <a:r>
              <a:rPr lang="en-US" altLang="zh-TW" sz="2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登入帳號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密碼</a:t>
            </a:r>
            <a:endParaRPr lang="en-US" altLang="zh-TW" sz="20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警告閾值</a:t>
            </a:r>
            <a:endParaRPr lang="en-US" altLang="zh-TW" sz="20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回傳間隔</a:t>
            </a:r>
            <a:endParaRPr lang="en-US" altLang="zh-TW" sz="20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F5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API(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可多台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各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想撈的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member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白名單</a:t>
            </a:r>
            <a:endParaRPr lang="en-US" altLang="zh-TW" sz="20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監控開始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停止時間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798946" y="2666609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F5 IP</a:t>
            </a:r>
            <a:endParaRPr lang="zh-TW" altLang="en-US"/>
          </a:p>
        </p:txBody>
      </p:sp>
      <p:cxnSp>
        <p:nvCxnSpPr>
          <p:cNvPr id="14" name="直線接點 13"/>
          <p:cNvCxnSpPr/>
          <p:nvPr/>
        </p:nvCxnSpPr>
        <p:spPr>
          <a:xfrm flipV="1">
            <a:off x="572524" y="4136571"/>
            <a:ext cx="7491613" cy="1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6930901" y="3545889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>
                <a:solidFill>
                  <a:srgbClr val="FFFF00"/>
                </a:solidFill>
              </a:rPr>
              <a:t>member</a:t>
            </a:r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352800" y="2481943"/>
            <a:ext cx="1184366" cy="80118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3382491" y="2112611"/>
            <a:ext cx="115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err="1">
                <a:solidFill>
                  <a:srgbClr val="00B0F0"/>
                </a:solidFill>
              </a:rPr>
              <a:t>PoolName</a:t>
            </a:r>
            <a:endParaRPr lang="zh-TW" altLang="en-US">
              <a:solidFill>
                <a:srgbClr val="00B0F0"/>
              </a:solidFill>
            </a:endParaRPr>
          </a:p>
        </p:txBody>
      </p:sp>
      <p:cxnSp>
        <p:nvCxnSpPr>
          <p:cNvPr id="19" name="直線接點 18"/>
          <p:cNvCxnSpPr/>
          <p:nvPr/>
        </p:nvCxnSpPr>
        <p:spPr>
          <a:xfrm flipV="1">
            <a:off x="572524" y="4690569"/>
            <a:ext cx="7491613" cy="1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 flipV="1">
            <a:off x="572524" y="5244567"/>
            <a:ext cx="7491613" cy="1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572523" y="5800573"/>
            <a:ext cx="4791957" cy="1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939843" y="108656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帳密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E22B478-285D-669F-0015-7DDB938D7B7D}"/>
              </a:ext>
            </a:extLst>
          </p:cNvPr>
          <p:cNvSpPr txBox="1"/>
          <p:nvPr/>
        </p:nvSpPr>
        <p:spPr>
          <a:xfrm>
            <a:off x="10109200" y="5919647"/>
            <a:ext cx="20428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F5 API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官方文件</a:t>
            </a:r>
            <a:endParaRPr lang="en-US" altLang="zh-TW" sz="20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1321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31CF89-F96A-5D03-E7F8-6760908E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AE70E-A2A9-4EA5-BAA7-366C18FFF9F6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6" name="標題 3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14399"/>
          </a:xfrm>
        </p:spPr>
        <p:txBody>
          <a:bodyPr>
            <a:normAutofit/>
          </a:bodyPr>
          <a:lstStyle/>
          <a:p>
            <a:r>
              <a:rPr lang="zh-TW" altLang="en-US" sz="2400" b="1" smtClean="0">
                <a:solidFill>
                  <a:srgbClr val="006666"/>
                </a:solidFill>
              </a:rPr>
              <a:t>操作步驟</a:t>
            </a:r>
            <a:endParaRPr lang="zh-TW" altLang="en-US" sz="2400" b="1">
              <a:solidFill>
                <a:srgbClr val="006666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1600" y="692825"/>
            <a:ext cx="2322818" cy="45719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101600" y="914400"/>
            <a:ext cx="120504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僅</a:t>
            </a:r>
            <a:r>
              <a:rPr lang="zh-TW" altLang="en-US" sz="2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首次執行須輸入</a:t>
            </a:r>
            <a:r>
              <a:rPr lang="en-US" altLang="zh-TW" sz="2000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000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開啟</a:t>
            </a:r>
            <a:r>
              <a:rPr lang="en-US" altLang="zh-TW" sz="2000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PowerShell -&gt; </a:t>
            </a:r>
            <a:br>
              <a:rPr lang="en-US" altLang="zh-TW" sz="2000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000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</a:t>
            </a:r>
            <a:r>
              <a:rPr lang="en-US" altLang="zh-TW" sz="2000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Install-Module -Name </a:t>
            </a:r>
            <a:r>
              <a:rPr lang="en-US" altLang="zh-TW" sz="2000" b="1" err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BurntToast</a:t>
            </a:r>
            <a:r>
              <a:rPr lang="en-US" altLang="zh-TW" sz="2000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-Force -Scope </a:t>
            </a:r>
            <a:r>
              <a:rPr lang="en-US" altLang="zh-TW" sz="2000" b="1" err="1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CurrentUser</a:t>
            </a:r>
            <a:r>
              <a:rPr lang="zh-TW" altLang="en-US" sz="2000" b="1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安裝</a:t>
            </a:r>
            <a:r>
              <a:rPr lang="en-US" altLang="zh-TW" sz="2000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Windows</a:t>
            </a:r>
            <a:r>
              <a:rPr lang="zh-TW" altLang="en-US" sz="2000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通知套件</a:t>
            </a:r>
            <a:endParaRPr lang="en-US" altLang="zh-TW" sz="2000" b="1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安裝</a:t>
            </a:r>
            <a:r>
              <a:rPr lang="en-US" altLang="zh-TW" sz="2000" b="1" smtClean="0"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Python</a:t>
            </a:r>
            <a:r>
              <a:rPr lang="zh-TW" altLang="en-US" sz="2000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，用於計算時段平均值</a:t>
            </a:r>
            <a:endParaRPr lang="en-US" altLang="zh-TW" sz="2000" b="1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於</a:t>
            </a:r>
            <a:r>
              <a:rPr lang="zh-TW" altLang="en-US" sz="2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該</a:t>
            </a:r>
            <a:r>
              <a:rPr lang="zh-TW" altLang="en-US" sz="2000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資料夾路徑開啟</a:t>
            </a:r>
            <a:r>
              <a:rPr lang="en-US" altLang="zh-TW" sz="2000" b="1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cmd</a:t>
            </a:r>
            <a:r>
              <a:rPr lang="zh-TW" altLang="en-US" sz="2000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，輸入</a:t>
            </a:r>
            <a:r>
              <a:rPr lang="en-US" altLang="zh-TW" sz="2000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powershell.exe -</a:t>
            </a:r>
            <a:r>
              <a:rPr lang="en-US" altLang="zh-TW" sz="2000" b="1" err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ExecutionPolicy</a:t>
            </a:r>
            <a:r>
              <a:rPr lang="en-US" altLang="zh-TW" sz="2000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Bypass -File </a:t>
            </a:r>
            <a:r>
              <a:rPr lang="en-US" altLang="zh-TW" sz="2000" b="1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f5_dtc.ps1</a:t>
            </a:r>
            <a:endParaRPr lang="en-US" altLang="zh-TW" sz="2000" b="1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050969" y="6136884"/>
            <a:ext cx="7101116" cy="39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300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300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300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若</a:t>
            </a:r>
            <a:r>
              <a:rPr lang="zh-TW" altLang="en-US" sz="13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直接執行</a:t>
            </a:r>
            <a:r>
              <a:rPr lang="en-US" altLang="zh-TW" sz="13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ps1</a:t>
            </a:r>
            <a:r>
              <a:rPr lang="zh-TW" altLang="en-US" sz="13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檔案出現「未經數位簽署</a:t>
            </a:r>
            <a:r>
              <a:rPr lang="en-US" altLang="zh-TW" sz="13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  <a:r>
              <a:rPr lang="zh-TW" altLang="en-US" sz="13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」錯誤，請參考</a:t>
            </a:r>
            <a:r>
              <a:rPr lang="zh-TW" altLang="en-US" sz="1300" b="1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微軟文件</a:t>
            </a:r>
            <a:r>
              <a:rPr lang="zh-TW" altLang="en-US" sz="13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3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Set-</a:t>
            </a:r>
            <a:r>
              <a:rPr lang="en-US" altLang="zh-TW" sz="1300" b="1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ExecutionPolicy</a:t>
            </a:r>
            <a:endParaRPr lang="en-US" altLang="zh-TW" sz="13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105" y="2853392"/>
            <a:ext cx="3778015" cy="3675907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9920" y="2853392"/>
            <a:ext cx="7661365" cy="198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441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31CF89-F96A-5D03-E7F8-6760908E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AE70E-A2A9-4EA5-BAA7-366C18FFF9F6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6" name="標題 3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14399"/>
          </a:xfrm>
        </p:spPr>
        <p:txBody>
          <a:bodyPr>
            <a:normAutofit/>
          </a:bodyPr>
          <a:lstStyle/>
          <a:p>
            <a:r>
              <a:rPr lang="zh-TW" altLang="en-US" sz="2400">
                <a:solidFill>
                  <a:srgbClr val="006666"/>
                </a:solidFill>
              </a:rPr>
              <a:t>程式執行畫面</a:t>
            </a:r>
            <a:r>
              <a:rPr lang="en-US" altLang="zh-TW" sz="2400">
                <a:solidFill>
                  <a:srgbClr val="006666"/>
                </a:solidFill>
              </a:rPr>
              <a:t>&amp;Demo</a:t>
            </a:r>
            <a:endParaRPr lang="zh-TW" altLang="en-US" sz="2400" b="1">
              <a:solidFill>
                <a:srgbClr val="006666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1600" y="692825"/>
            <a:ext cx="2322818" cy="45719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27"/>
          <a:stretch>
            <a:fillRect/>
          </a:stretch>
        </p:blipFill>
        <p:spPr>
          <a:xfrm>
            <a:off x="181536" y="914399"/>
            <a:ext cx="11670995" cy="566737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14" b="5518"/>
          <a:stretch>
            <a:fillRect/>
          </a:stretch>
        </p:blipFill>
        <p:spPr>
          <a:xfrm>
            <a:off x="9410700" y="3531688"/>
            <a:ext cx="2781300" cy="305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50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31CF89-F96A-5D03-E7F8-6760908E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AE70E-A2A9-4EA5-BAA7-366C18FFF9F6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6" name="標題 3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14399"/>
          </a:xfrm>
        </p:spPr>
        <p:txBody>
          <a:bodyPr>
            <a:normAutofit/>
          </a:bodyPr>
          <a:lstStyle/>
          <a:p>
            <a:r>
              <a:rPr lang="en-US" altLang="zh-TW" sz="2400">
                <a:solidFill>
                  <a:srgbClr val="006666"/>
                </a:solidFill>
              </a:rPr>
              <a:t>Log</a:t>
            </a:r>
            <a:r>
              <a:rPr lang="zh-TW" altLang="en-US" sz="2400">
                <a:solidFill>
                  <a:srgbClr val="006666"/>
                </a:solidFill>
              </a:rPr>
              <a:t>格式</a:t>
            </a:r>
            <a:r>
              <a:rPr lang="en-US" altLang="zh-TW" sz="2400">
                <a:solidFill>
                  <a:srgbClr val="006666"/>
                </a:solidFill>
              </a:rPr>
              <a:t>&amp;</a:t>
            </a:r>
            <a:r>
              <a:rPr lang="zh-TW" altLang="en-US" sz="2400">
                <a:solidFill>
                  <a:srgbClr val="006666"/>
                </a:solidFill>
              </a:rPr>
              <a:t>計算平均</a:t>
            </a:r>
            <a:endParaRPr lang="zh-TW" altLang="en-US" sz="2400" b="1">
              <a:solidFill>
                <a:srgbClr val="006666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1600" y="692825"/>
            <a:ext cx="2322818" cy="45719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78" y="1244705"/>
            <a:ext cx="4706545" cy="785896"/>
          </a:xfrm>
          <a:prstGeom prst="rect">
            <a:avLst/>
          </a:prstGeom>
        </p:spPr>
      </p:pic>
      <p:sp>
        <p:nvSpPr>
          <p:cNvPr id="11" name="向右箭號 10"/>
          <p:cNvSpPr/>
          <p:nvPr/>
        </p:nvSpPr>
        <p:spPr>
          <a:xfrm rot="5400000">
            <a:off x="412956" y="2304951"/>
            <a:ext cx="697562" cy="268880"/>
          </a:xfrm>
          <a:prstGeom prst="rightArrow">
            <a:avLst>
              <a:gd name="adj1" fmla="val 50000"/>
              <a:gd name="adj2" fmla="val 8170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6" name="群組 15"/>
          <p:cNvGrpSpPr/>
          <p:nvPr/>
        </p:nvGrpSpPr>
        <p:grpSpPr>
          <a:xfrm>
            <a:off x="369093" y="2847944"/>
            <a:ext cx="3572329" cy="1134408"/>
            <a:chOff x="344665" y="3457575"/>
            <a:chExt cx="3572329" cy="1134408"/>
          </a:xfrm>
        </p:grpSpPr>
        <p:pic>
          <p:nvPicPr>
            <p:cNvPr id="15" name="圖片 14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5453"/>
            <a:stretch/>
          </p:blipFill>
          <p:spPr>
            <a:xfrm>
              <a:off x="344665" y="3645651"/>
              <a:ext cx="3572329" cy="946332"/>
            </a:xfrm>
            <a:prstGeom prst="rect">
              <a:avLst/>
            </a:prstGeom>
          </p:spPr>
        </p:pic>
        <p:pic>
          <p:nvPicPr>
            <p:cNvPr id="12" name="圖片 11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12" t="16809" b="17070"/>
            <a:stretch/>
          </p:blipFill>
          <p:spPr>
            <a:xfrm>
              <a:off x="392906" y="3457575"/>
              <a:ext cx="812983" cy="195263"/>
            </a:xfrm>
            <a:prstGeom prst="rect">
              <a:avLst/>
            </a:prstGeom>
          </p:spPr>
        </p:pic>
      </p:grpSp>
      <p:pic>
        <p:nvPicPr>
          <p:cNvPr id="13" name="圖片 1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1" t="7563" r="1" b="11977"/>
          <a:stretch/>
        </p:blipFill>
        <p:spPr>
          <a:xfrm>
            <a:off x="459539" y="5129607"/>
            <a:ext cx="1181734" cy="188120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6" t="6220" r="13595"/>
          <a:stretch/>
        </p:blipFill>
        <p:spPr>
          <a:xfrm>
            <a:off x="369093" y="5363919"/>
            <a:ext cx="3774856" cy="884193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1050406" y="2252889"/>
            <a:ext cx="3872217" cy="338554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依據填入的</a:t>
            </a:r>
            <a:r>
              <a:rPr lang="en-US" altLang="zh-TW" sz="1600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URL</a:t>
            </a:r>
            <a:r>
              <a:rPr lang="zh-TW" altLang="en-US" sz="1600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分別產生對應的</a:t>
            </a:r>
            <a:r>
              <a:rPr lang="en-US" altLang="zh-TW" sz="1600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Log</a:t>
            </a:r>
            <a:endParaRPr lang="zh-TW" altLang="en-US" sz="1600" b="1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763993-719A-BBE0-651C-C26592E61BB3}"/>
              </a:ext>
            </a:extLst>
          </p:cNvPr>
          <p:cNvSpPr/>
          <p:nvPr/>
        </p:nvSpPr>
        <p:spPr>
          <a:xfrm>
            <a:off x="-394398" y="6808560"/>
            <a:ext cx="2322818" cy="45719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2A5244E-2EDB-0EBB-EEDC-E99C66AFEA0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572"/>
          <a:stretch/>
        </p:blipFill>
        <p:spPr>
          <a:xfrm>
            <a:off x="5152216" y="782175"/>
            <a:ext cx="6900148" cy="316272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61B40AEB-0F5D-E75A-BE83-B1F07B0D0C8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216" y="5471036"/>
            <a:ext cx="6900146" cy="77707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D0F8B300-5921-A8EC-4F00-A3EB542C9DB3}"/>
              </a:ext>
            </a:extLst>
          </p:cNvPr>
          <p:cNvSpPr/>
          <p:nvPr/>
        </p:nvSpPr>
        <p:spPr>
          <a:xfrm>
            <a:off x="5437199" y="1244705"/>
            <a:ext cx="6538723" cy="6654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65E0B7-AEFC-29BD-AB12-4C97E8B92906}"/>
              </a:ext>
            </a:extLst>
          </p:cNvPr>
          <p:cNvSpPr/>
          <p:nvPr/>
        </p:nvSpPr>
        <p:spPr>
          <a:xfrm>
            <a:off x="10473086" y="5442940"/>
            <a:ext cx="1512676" cy="1862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0134E779-8B66-89DF-3FAF-693B80AE85E3}"/>
              </a:ext>
            </a:extLst>
          </p:cNvPr>
          <p:cNvSpPr txBox="1"/>
          <p:nvPr/>
        </p:nvSpPr>
        <p:spPr>
          <a:xfrm>
            <a:off x="5152216" y="5036143"/>
            <a:ext cx="3687640" cy="402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計算平均</a:t>
            </a: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2E2CCB92-76B6-182F-A10A-96528458C295}"/>
              </a:ext>
            </a:extLst>
          </p:cNvPr>
          <p:cNvCxnSpPr>
            <a:cxnSpLocks/>
          </p:cNvCxnSpPr>
          <p:nvPr/>
        </p:nvCxnSpPr>
        <p:spPr>
          <a:xfrm>
            <a:off x="10473086" y="1944638"/>
            <a:ext cx="0" cy="341928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8DF5145C-F0BC-69EA-C6B4-CF27104A6B42}"/>
              </a:ext>
            </a:extLst>
          </p:cNvPr>
          <p:cNvGrpSpPr/>
          <p:nvPr/>
        </p:nvGrpSpPr>
        <p:grpSpPr>
          <a:xfrm>
            <a:off x="8462862" y="4267774"/>
            <a:ext cx="1799504" cy="768369"/>
            <a:chOff x="9797287" y="4308221"/>
            <a:chExt cx="1799504" cy="768369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76731848-A4A4-8951-1684-7C8F8BAC407A}"/>
                </a:ext>
              </a:extLst>
            </p:cNvPr>
            <p:cNvSpPr/>
            <p:nvPr/>
          </p:nvSpPr>
          <p:spPr>
            <a:xfrm>
              <a:off x="10344397" y="4707258"/>
              <a:ext cx="12523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getavg.py</a:t>
              </a:r>
              <a:endParaRPr lang="zh-TW" altLang="en-US"/>
            </a:p>
          </p:txBody>
        </p:sp>
        <p:pic>
          <p:nvPicPr>
            <p:cNvPr id="24" name="Picture 4" descr="Python - 維基百科，自由的百科全書">
              <a:extLst>
                <a:ext uri="{FF2B5EF4-FFF2-40B4-BE49-F238E27FC236}">
                  <a16:creationId xmlns:a16="http://schemas.microsoft.com/office/drawing/2014/main" id="{6A1DCEE8-9968-B358-F2BD-E01BD5A62D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7287" y="4308221"/>
              <a:ext cx="703863" cy="7038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向右箭號 10">
            <a:extLst>
              <a:ext uri="{FF2B5EF4-FFF2-40B4-BE49-F238E27FC236}">
                <a16:creationId xmlns:a16="http://schemas.microsoft.com/office/drawing/2014/main" id="{4C76C644-BC15-37B9-FD91-0E18082DFEE4}"/>
              </a:ext>
            </a:extLst>
          </p:cNvPr>
          <p:cNvSpPr/>
          <p:nvPr/>
        </p:nvSpPr>
        <p:spPr>
          <a:xfrm rot="5400000">
            <a:off x="412956" y="4482115"/>
            <a:ext cx="697562" cy="268880"/>
          </a:xfrm>
          <a:prstGeom prst="rightArrow">
            <a:avLst>
              <a:gd name="adj1" fmla="val 50000"/>
              <a:gd name="adj2" fmla="val 8170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7264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/>
              <a:t>(3</a:t>
            </a:r>
            <a:r>
              <a:rPr lang="en-US" altLang="zh-TW" smtClean="0"/>
              <a:t>)</a:t>
            </a:r>
            <a:r>
              <a:rPr lang="zh-TW" altLang="en-US"/>
              <a:t>延伸功能</a:t>
            </a:r>
            <a:endParaRPr lang="en-US" altLang="zh-TW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FAE70E-A2A9-4EA5-BAA7-366C18FFF9F6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0714855"/>
      </p:ext>
    </p:extLst>
  </p:cSld>
  <p:clrMapOvr>
    <a:masterClrMapping/>
  </p:clrMapOvr>
  <p:transition spd="slow">
    <p:strips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31CF89-F96A-5D03-E7F8-6760908E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AE70E-A2A9-4EA5-BAA7-366C18FFF9F6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6" name="標題 3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14399"/>
          </a:xfrm>
        </p:spPr>
        <p:txBody>
          <a:bodyPr>
            <a:normAutofit/>
          </a:bodyPr>
          <a:lstStyle/>
          <a:p>
            <a:r>
              <a:rPr lang="zh-TW" altLang="en-US" sz="2400">
                <a:solidFill>
                  <a:srgbClr val="006666"/>
                </a:solidFill>
              </a:rPr>
              <a:t>延伸功能</a:t>
            </a:r>
            <a:endParaRPr lang="zh-TW" altLang="en-US" sz="2400" b="1">
              <a:solidFill>
                <a:srgbClr val="006666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1600" y="692825"/>
            <a:ext cx="1249574" cy="55395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文字方塊 27"/>
          <p:cNvSpPr txBox="1"/>
          <p:nvPr/>
        </p:nvSpPr>
        <p:spPr>
          <a:xfrm>
            <a:off x="101600" y="1126297"/>
            <a:ext cx="3398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視覺化的前端統計畫面</a:t>
            </a:r>
          </a:p>
        </p:txBody>
      </p:sp>
      <p:sp>
        <p:nvSpPr>
          <p:cNvPr id="29" name="文字方塊 28"/>
          <p:cNvSpPr txBox="1"/>
          <p:nvPr/>
        </p:nvSpPr>
        <p:spPr>
          <a:xfrm>
            <a:off x="101600" y="1609805"/>
            <a:ext cx="34925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前端可以自動讀取</a:t>
            </a:r>
            <a:r>
              <a:rPr lang="en-US" altLang="zh-TW" sz="2000" b="1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log</a:t>
            </a:r>
            <a:r>
              <a:rPr lang="zh-TW" altLang="en-US" sz="2000" b="1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檔案，並轉換成圖表、並且可即時顯示最新的圖表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098" y="2647311"/>
            <a:ext cx="8541514" cy="3795216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949" y="1393913"/>
            <a:ext cx="4873461" cy="11141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矩形 9"/>
          <p:cNvSpPr/>
          <p:nvPr/>
        </p:nvSpPr>
        <p:spPr>
          <a:xfrm>
            <a:off x="5508949" y="1024581"/>
            <a:ext cx="13380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chart.html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345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kern="0"/>
              <a:t>簡報結束，感謝您撥冗聆聽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AE70E-A2A9-4EA5-BAA7-366C18FFF9F6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672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5" id="{4956AE0F-35FF-4D0A-BA46-5ACE1BE5E53B}" vid="{1A96BD19-A808-4FC5-946A-9030B941AC7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分享模板</Template>
  <TotalTime>6736</TotalTime>
  <Words>681</Words>
  <Application>Microsoft Office PowerPoint</Application>
  <PresentationFormat>寬螢幕</PresentationFormat>
  <Paragraphs>136</Paragraphs>
  <Slides>17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3" baseType="lpstr">
      <vt:lpstr>微軟正黑體</vt:lpstr>
      <vt:lpstr>新細明體</vt:lpstr>
      <vt:lpstr>Arial</vt:lpstr>
      <vt:lpstr>Calibri</vt:lpstr>
      <vt:lpstr>Wingdings</vt:lpstr>
      <vt:lpstr>Office 佈景主題</vt:lpstr>
      <vt:lpstr>n8n × MCP 工作流程實戰  開源自動化平台 + 多場景流程串接</vt:lpstr>
      <vt:lpstr>Agenda</vt:lpstr>
      <vt:lpstr>(1) n8n 介紹</vt:lpstr>
      <vt:lpstr>什麼是n8n?</vt:lpstr>
      <vt:lpstr>工具比較</vt:lpstr>
      <vt:lpstr>(2)如何安裝與設置 n8n</vt:lpstr>
      <vt:lpstr>安裝步驟-1</vt:lpstr>
      <vt:lpstr>安裝步驟-2</vt:lpstr>
      <vt:lpstr>(3) n8n 工作流程設計</vt:lpstr>
      <vt:lpstr>程式流程</vt:lpstr>
      <vt:lpstr>變數設定</vt:lpstr>
      <vt:lpstr>操作步驟</vt:lpstr>
      <vt:lpstr>程式執行畫面&amp;Demo</vt:lpstr>
      <vt:lpstr>Log格式&amp;計算平均</vt:lpstr>
      <vt:lpstr>(3)延伸功能</vt:lpstr>
      <vt:lpstr>延伸功能</vt:lpstr>
      <vt:lpstr>簡報結束，感謝您撥冗聆聽</vt:lpstr>
    </vt:vector>
  </TitlesOfParts>
  <Company>ctbcsec.com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周家禾</dc:creator>
  <cp:lastModifiedBy>林鈞元</cp:lastModifiedBy>
  <cp:revision>699</cp:revision>
  <dcterms:created xsi:type="dcterms:W3CDTF">2024-08-28T06:38:57Z</dcterms:created>
  <dcterms:modified xsi:type="dcterms:W3CDTF">2025-11-18T01:34:13Z</dcterms:modified>
</cp:coreProperties>
</file>